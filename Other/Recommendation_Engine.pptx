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36"/>
        </a:solidFill>
      </p:bgPr>
    </p:bg>
    <p:spTree>
      <p:nvGrpSpPr>
        <p:cNvPr id="1" name=""/>
        <p:cNvGrpSpPr/>
        <p:nvPr/>
      </p:nvGrpSpPr>
      <p:grpSpPr>
        <a:xfrm>
          <a:off x="0" y="0"/>
          <a:ext cx="0" cy="0"/>
          <a:chOff x="0" y="0"/>
          <a:chExt cx="0" cy="0"/>
        </a:xfrm>
      </p:grpSpPr>
      <p:sp>
        <p:nvSpPr>
          <p:cNvPr id="2" name="Shape 0"/>
          <p:cNvSpPr/>
          <p:nvPr/>
        </p:nvSpPr>
        <p:spPr>
          <a:xfrm>
            <a:off x="548640" y="548640"/>
            <a:ext cx="457200" cy="41148"/>
          </a:xfrm>
          <a:prstGeom prst="rect">
            <a:avLst/>
          </a:prstGeom>
          <a:solidFill>
            <a:srgbClr val="C6552B"/>
          </a:solidFill>
          <a:ln/>
        </p:spPr>
      </p:sp>
      <p:sp>
        <p:nvSpPr>
          <p:cNvPr id="3" name="Shape 1"/>
          <p:cNvSpPr/>
          <p:nvPr/>
        </p:nvSpPr>
        <p:spPr>
          <a:xfrm>
            <a:off x="548640" y="548640"/>
            <a:ext cx="41148" cy="457200"/>
          </a:xfrm>
          <a:prstGeom prst="rect">
            <a:avLst/>
          </a:prstGeom>
          <a:solidFill>
            <a:srgbClr val="C6552B"/>
          </a:solidFill>
          <a:ln/>
        </p:spPr>
      </p:sp>
      <p:sp>
        <p:nvSpPr>
          <p:cNvPr id="4" name="Text 2"/>
          <p:cNvSpPr txBox="1"/>
          <p:nvPr/>
        </p:nvSpPr>
        <p:spPr>
          <a:xfrm>
            <a:off x="640080" y="868680"/>
            <a:ext cx="5486400" cy="320040"/>
          </a:xfrm>
          <a:prstGeom prst="rect">
            <a:avLst/>
          </a:prstGeom>
          <a:noFill/>
          <a:ln/>
        </p:spPr>
        <p:txBody>
          <a:bodyPr wrap="square" lIns="0" tIns="0" rIns="0" bIns="0" rtlCol="0" anchor="ctr"/>
          <a:lstStyle/>
          <a:p>
            <a:pPr indent="0" marL="0">
              <a:buNone/>
            </a:pPr>
            <a:r>
              <a:rPr lang="en-US" sz="1200" b="1" spc="200" kern="0" dirty="0">
                <a:solidFill>
                  <a:srgbClr val="CFE0DC"/>
                </a:solidFill>
                <a:latin typeface="Lato" pitchFamily="34" charset="0"/>
                <a:ea typeface="Lato" pitchFamily="34" charset="-122"/>
                <a:cs typeface="Lato" pitchFamily="34" charset="-120"/>
              </a:rPr>
              <a:t>DEPARTMENT OF CS &amp; IT</a:t>
            </a:r>
            <a:endParaRPr lang="en-US" sz="1200" dirty="0"/>
          </a:p>
        </p:txBody>
      </p:sp>
      <p:sp>
        <p:nvSpPr>
          <p:cNvPr id="5" name="Text 3"/>
          <p:cNvSpPr txBox="1"/>
          <p:nvPr/>
        </p:nvSpPr>
        <p:spPr>
          <a:xfrm>
            <a:off x="640080" y="1170432"/>
            <a:ext cx="7315200" cy="320040"/>
          </a:xfrm>
          <a:prstGeom prst="rect">
            <a:avLst/>
          </a:prstGeom>
          <a:noFill/>
          <a:ln/>
        </p:spPr>
        <p:txBody>
          <a:bodyPr wrap="square" lIns="0" tIns="0" rIns="0" bIns="0" rtlCol="0" anchor="ctr"/>
          <a:lstStyle/>
          <a:p>
            <a:pPr indent="0" marL="0">
              <a:buNone/>
            </a:pPr>
            <a:r>
              <a:rPr lang="en-US" sz="1300" dirty="0">
                <a:solidFill>
                  <a:srgbClr val="9DB8B2"/>
                </a:solidFill>
                <a:latin typeface="Lato" pitchFamily="34" charset="0"/>
                <a:ea typeface="Lato" pitchFamily="34" charset="-122"/>
                <a:cs typeface="Lato" pitchFamily="34" charset="-120"/>
              </a:rPr>
              <a:t>Data Structures and Algorithms – 3  (25CS2103E)</a:t>
            </a:r>
            <a:endParaRPr lang="en-US" sz="1300" dirty="0"/>
          </a:p>
        </p:txBody>
      </p:sp>
      <p:sp>
        <p:nvSpPr>
          <p:cNvPr id="6" name="Text 4"/>
          <p:cNvSpPr txBox="1"/>
          <p:nvPr/>
        </p:nvSpPr>
        <p:spPr>
          <a:xfrm>
            <a:off x="594360" y="2331720"/>
            <a:ext cx="10789920" cy="1554480"/>
          </a:xfrm>
          <a:prstGeom prst="rect">
            <a:avLst/>
          </a:prstGeom>
          <a:noFill/>
          <a:ln/>
        </p:spPr>
        <p:txBody>
          <a:bodyPr wrap="square" lIns="0" tIns="0" rIns="0" bIns="0" rtlCol="0" anchor="ctr"/>
          <a:lstStyle/>
          <a:p>
            <a:pPr indent="0" marL="0">
              <a:buNone/>
            </a:pPr>
            <a:r>
              <a:rPr lang="en-US" sz="5600" dirty="0">
                <a:solidFill>
                  <a:srgbClr val="FAF7F0"/>
                </a:solidFill>
                <a:latin typeface="Playfair Display" pitchFamily="34" charset="0"/>
                <a:ea typeface="Playfair Display" pitchFamily="34" charset="-122"/>
                <a:cs typeface="Playfair Display" pitchFamily="34" charset="-120"/>
              </a:rPr>
              <a:t>Recommendation Engine</a:t>
            </a:r>
            <a:endParaRPr lang="en-US" sz="5600" dirty="0"/>
          </a:p>
        </p:txBody>
      </p:sp>
      <p:sp>
        <p:nvSpPr>
          <p:cNvPr id="7" name="Shape 5"/>
          <p:cNvSpPr/>
          <p:nvPr/>
        </p:nvSpPr>
        <p:spPr>
          <a:xfrm>
            <a:off x="640080" y="3794760"/>
            <a:ext cx="2011680" cy="0"/>
          </a:xfrm>
          <a:prstGeom prst="line">
            <a:avLst/>
          </a:prstGeom>
          <a:noFill/>
          <a:ln w="25400">
            <a:solidFill>
              <a:srgbClr val="C6552B"/>
            </a:solidFill>
            <a:prstDash val="solid"/>
          </a:ln>
        </p:spPr>
      </p:sp>
      <p:sp>
        <p:nvSpPr>
          <p:cNvPr id="8" name="Text 6"/>
          <p:cNvSpPr txBox="1"/>
          <p:nvPr/>
        </p:nvSpPr>
        <p:spPr>
          <a:xfrm>
            <a:off x="640080" y="3950208"/>
            <a:ext cx="8961120" cy="594360"/>
          </a:xfrm>
          <a:prstGeom prst="rect">
            <a:avLst/>
          </a:prstGeom>
          <a:noFill/>
          <a:ln/>
        </p:spPr>
        <p:txBody>
          <a:bodyPr wrap="square" lIns="0" tIns="0" rIns="0" bIns="0" rtlCol="0" anchor="ctr"/>
          <a:lstStyle/>
          <a:p>
            <a:pPr indent="0" marL="0">
              <a:buNone/>
            </a:pPr>
            <a:r>
              <a:rPr lang="en-US" sz="1550" i="1" dirty="0">
                <a:solidFill>
                  <a:srgbClr val="CFE0DC"/>
                </a:solidFill>
                <a:latin typeface="Lato" pitchFamily="34" charset="0"/>
                <a:ea typeface="Lato" pitchFamily="34" charset="-122"/>
                <a:cs typeface="Lato" pitchFamily="34" charset="-120"/>
              </a:rPr>
              <a:t>A DSA-driven personalized recommendation system for efficient search, ranking and user-oriented recommendations</a:t>
            </a:r>
            <a:endParaRPr lang="en-US" sz="1550" dirty="0"/>
          </a:p>
        </p:txBody>
      </p:sp>
      <p:sp>
        <p:nvSpPr>
          <p:cNvPr id="9" name="Text 7"/>
          <p:cNvSpPr txBox="1"/>
          <p:nvPr/>
        </p:nvSpPr>
        <p:spPr>
          <a:xfrm>
            <a:off x="640080" y="5074920"/>
            <a:ext cx="3520440" cy="274320"/>
          </a:xfrm>
          <a:prstGeom prst="rect">
            <a:avLst/>
          </a:prstGeom>
          <a:noFill/>
          <a:ln/>
        </p:spPr>
        <p:txBody>
          <a:bodyPr wrap="square" lIns="0" tIns="0" rIns="0" bIns="0" rtlCol="0" anchor="ctr"/>
          <a:lstStyle/>
          <a:p>
            <a:pPr indent="0" marL="0">
              <a:buNone/>
            </a:pPr>
            <a:r>
              <a:rPr lang="en-US" sz="1050" b="1" spc="150" kern="0" dirty="0">
                <a:solidFill>
                  <a:srgbClr val="C6552B"/>
                </a:solidFill>
                <a:latin typeface="Lato" pitchFamily="34" charset="0"/>
                <a:ea typeface="Lato" pitchFamily="34" charset="-122"/>
                <a:cs typeface="Lato" pitchFamily="34" charset="-120"/>
              </a:rPr>
              <a:t>TEAM / SECTION</a:t>
            </a:r>
            <a:endParaRPr lang="en-US" sz="1050" dirty="0"/>
          </a:p>
        </p:txBody>
      </p:sp>
      <p:sp>
        <p:nvSpPr>
          <p:cNvPr id="10" name="Text 8"/>
          <p:cNvSpPr txBox="1"/>
          <p:nvPr/>
        </p:nvSpPr>
        <p:spPr>
          <a:xfrm>
            <a:off x="640080" y="5422392"/>
            <a:ext cx="3520440" cy="320040"/>
          </a:xfrm>
          <a:prstGeom prst="rect">
            <a:avLst/>
          </a:prstGeom>
          <a:noFill/>
          <a:ln/>
        </p:spPr>
        <p:txBody>
          <a:bodyPr wrap="square" lIns="0" tIns="0" rIns="0" bIns="0" rtlCol="0" anchor="ctr"/>
          <a:lstStyle/>
          <a:p>
            <a:pPr indent="0" marL="0">
              <a:buNone/>
            </a:pPr>
            <a:r>
              <a:rPr lang="en-US" sz="1500" b="1" dirty="0">
                <a:solidFill>
                  <a:srgbClr val="FAF7F0"/>
                </a:solidFill>
                <a:latin typeface="Lato" pitchFamily="34" charset="0"/>
                <a:ea typeface="Lato" pitchFamily="34" charset="-122"/>
                <a:cs typeface="Lato" pitchFamily="34" charset="-120"/>
              </a:rPr>
              <a:t>Team 40</a:t>
            </a:r>
            <a:endParaRPr lang="en-US" sz="1500" dirty="0"/>
          </a:p>
        </p:txBody>
      </p:sp>
      <p:sp>
        <p:nvSpPr>
          <p:cNvPr id="11" name="Text 9"/>
          <p:cNvSpPr txBox="1"/>
          <p:nvPr/>
        </p:nvSpPr>
        <p:spPr>
          <a:xfrm>
            <a:off x="640080" y="5788152"/>
            <a:ext cx="3520440" cy="320040"/>
          </a:xfrm>
          <a:prstGeom prst="rect">
            <a:avLst/>
          </a:prstGeom>
          <a:noFill/>
          <a:ln/>
        </p:spPr>
        <p:txBody>
          <a:bodyPr wrap="square" lIns="0" tIns="0" rIns="0" bIns="0" rtlCol="0" anchor="ctr"/>
          <a:lstStyle/>
          <a:p>
            <a:pPr indent="0" marL="0">
              <a:buNone/>
            </a:pPr>
            <a:r>
              <a:rPr lang="en-US" sz="1250" dirty="0">
                <a:solidFill>
                  <a:srgbClr val="9DB8B2"/>
                </a:solidFill>
                <a:latin typeface="Lato" pitchFamily="34" charset="0"/>
                <a:ea typeface="Lato" pitchFamily="34" charset="-122"/>
                <a:cs typeface="Lato" pitchFamily="34" charset="-120"/>
              </a:rPr>
              <a:t>Section 12</a:t>
            </a:r>
            <a:endParaRPr lang="en-US" sz="1250" dirty="0"/>
          </a:p>
        </p:txBody>
      </p:sp>
      <p:sp>
        <p:nvSpPr>
          <p:cNvPr id="12" name="Shape 10"/>
          <p:cNvSpPr/>
          <p:nvPr/>
        </p:nvSpPr>
        <p:spPr>
          <a:xfrm>
            <a:off x="4297680" y="5074920"/>
            <a:ext cx="0" cy="1371600"/>
          </a:xfrm>
          <a:prstGeom prst="line">
            <a:avLst/>
          </a:prstGeom>
          <a:noFill/>
          <a:ln w="12700">
            <a:solidFill>
              <a:srgbClr val="2A5B54"/>
            </a:solidFill>
            <a:prstDash val="solid"/>
          </a:ln>
        </p:spPr>
      </p:sp>
      <p:sp>
        <p:nvSpPr>
          <p:cNvPr id="13" name="Text 11"/>
          <p:cNvSpPr txBox="1"/>
          <p:nvPr/>
        </p:nvSpPr>
        <p:spPr>
          <a:xfrm>
            <a:off x="4434840" y="5074920"/>
            <a:ext cx="3520440" cy="274320"/>
          </a:xfrm>
          <a:prstGeom prst="rect">
            <a:avLst/>
          </a:prstGeom>
          <a:noFill/>
          <a:ln/>
        </p:spPr>
        <p:txBody>
          <a:bodyPr wrap="square" lIns="0" tIns="0" rIns="0" bIns="0" rtlCol="0" anchor="ctr"/>
          <a:lstStyle/>
          <a:p>
            <a:pPr indent="0" marL="0">
              <a:buNone/>
            </a:pPr>
            <a:r>
              <a:rPr lang="en-US" sz="1050" b="1" spc="150" kern="0" dirty="0">
                <a:solidFill>
                  <a:srgbClr val="C6552B"/>
                </a:solidFill>
                <a:latin typeface="Lato" pitchFamily="34" charset="0"/>
                <a:ea typeface="Lato" pitchFamily="34" charset="-122"/>
                <a:cs typeface="Lato" pitchFamily="34" charset="-120"/>
              </a:rPr>
              <a:t>PRESENTED BY</a:t>
            </a:r>
            <a:endParaRPr lang="en-US" sz="1050" dirty="0"/>
          </a:p>
        </p:txBody>
      </p:sp>
      <p:sp>
        <p:nvSpPr>
          <p:cNvPr id="14" name="Text 12"/>
          <p:cNvSpPr txBox="1"/>
          <p:nvPr/>
        </p:nvSpPr>
        <p:spPr>
          <a:xfrm>
            <a:off x="4434840" y="5422392"/>
            <a:ext cx="3520440" cy="320040"/>
          </a:xfrm>
          <a:prstGeom prst="rect">
            <a:avLst/>
          </a:prstGeom>
          <a:noFill/>
          <a:ln/>
        </p:spPr>
        <p:txBody>
          <a:bodyPr wrap="square" lIns="0" tIns="0" rIns="0" bIns="0" rtlCol="0" anchor="ctr"/>
          <a:lstStyle/>
          <a:p>
            <a:pPr indent="0" marL="0">
              <a:buNone/>
            </a:pPr>
            <a:r>
              <a:rPr lang="en-US" sz="1500" b="1" dirty="0">
                <a:solidFill>
                  <a:srgbClr val="FAF7F0"/>
                </a:solidFill>
                <a:latin typeface="Lato" pitchFamily="34" charset="0"/>
                <a:ea typeface="Lato" pitchFamily="34" charset="-122"/>
                <a:cs typeface="Lato" pitchFamily="34" charset="-120"/>
              </a:rPr>
              <a:t>M. Niharika</a:t>
            </a:r>
            <a:endParaRPr lang="en-US" sz="1500" dirty="0"/>
          </a:p>
        </p:txBody>
      </p:sp>
      <p:sp>
        <p:nvSpPr>
          <p:cNvPr id="15" name="Text 13"/>
          <p:cNvSpPr txBox="1"/>
          <p:nvPr/>
        </p:nvSpPr>
        <p:spPr>
          <a:xfrm>
            <a:off x="4434840" y="5788152"/>
            <a:ext cx="3520440" cy="320040"/>
          </a:xfrm>
          <a:prstGeom prst="rect">
            <a:avLst/>
          </a:prstGeom>
          <a:noFill/>
          <a:ln/>
        </p:spPr>
        <p:txBody>
          <a:bodyPr wrap="square" lIns="0" tIns="0" rIns="0" bIns="0" rtlCol="0" anchor="ctr"/>
          <a:lstStyle/>
          <a:p>
            <a:pPr indent="0" marL="0">
              <a:buNone/>
            </a:pPr>
            <a:r>
              <a:rPr lang="en-US" sz="1250" dirty="0">
                <a:solidFill>
                  <a:srgbClr val="9DB8B2"/>
                </a:solidFill>
                <a:latin typeface="Lato" pitchFamily="34" charset="0"/>
                <a:ea typeface="Lato" pitchFamily="34" charset="-122"/>
                <a:cs typeface="Lato" pitchFamily="34" charset="-120"/>
              </a:rPr>
              <a:t>2520090021</a:t>
            </a:r>
            <a:endParaRPr lang="en-US" sz="1250" dirty="0"/>
          </a:p>
        </p:txBody>
      </p:sp>
      <p:sp>
        <p:nvSpPr>
          <p:cNvPr id="16" name="Shape 14"/>
          <p:cNvSpPr/>
          <p:nvPr/>
        </p:nvSpPr>
        <p:spPr>
          <a:xfrm>
            <a:off x="8092440" y="5074920"/>
            <a:ext cx="0" cy="1371600"/>
          </a:xfrm>
          <a:prstGeom prst="line">
            <a:avLst/>
          </a:prstGeom>
          <a:noFill/>
          <a:ln w="12700">
            <a:solidFill>
              <a:srgbClr val="2A5B54"/>
            </a:solidFill>
            <a:prstDash val="solid"/>
          </a:ln>
        </p:spPr>
      </p:sp>
      <p:sp>
        <p:nvSpPr>
          <p:cNvPr id="17" name="Text 15"/>
          <p:cNvSpPr txBox="1"/>
          <p:nvPr/>
        </p:nvSpPr>
        <p:spPr>
          <a:xfrm>
            <a:off x="8229600" y="5074920"/>
            <a:ext cx="3520440" cy="274320"/>
          </a:xfrm>
          <a:prstGeom prst="rect">
            <a:avLst/>
          </a:prstGeom>
          <a:noFill/>
          <a:ln/>
        </p:spPr>
        <p:txBody>
          <a:bodyPr wrap="square" lIns="0" tIns="0" rIns="0" bIns="0" rtlCol="0" anchor="ctr"/>
          <a:lstStyle/>
          <a:p>
            <a:pPr indent="0" marL="0">
              <a:buNone/>
            </a:pPr>
            <a:r>
              <a:rPr lang="en-US" sz="1050" b="1" spc="150" kern="0" dirty="0">
                <a:solidFill>
                  <a:srgbClr val="C6552B"/>
                </a:solidFill>
                <a:latin typeface="Lato" pitchFamily="34" charset="0"/>
                <a:ea typeface="Lato" pitchFamily="34" charset="-122"/>
                <a:cs typeface="Lato" pitchFamily="34" charset="-120"/>
              </a:rPr>
              <a:t>GUIDED BY</a:t>
            </a:r>
            <a:endParaRPr lang="en-US" sz="1050" dirty="0"/>
          </a:p>
        </p:txBody>
      </p:sp>
      <p:sp>
        <p:nvSpPr>
          <p:cNvPr id="18" name="Text 16"/>
          <p:cNvSpPr txBox="1"/>
          <p:nvPr/>
        </p:nvSpPr>
        <p:spPr>
          <a:xfrm>
            <a:off x="8229600" y="5422392"/>
            <a:ext cx="3520440" cy="320040"/>
          </a:xfrm>
          <a:prstGeom prst="rect">
            <a:avLst/>
          </a:prstGeom>
          <a:noFill/>
          <a:ln/>
        </p:spPr>
        <p:txBody>
          <a:bodyPr wrap="square" lIns="0" tIns="0" rIns="0" bIns="0" rtlCol="0" anchor="ctr"/>
          <a:lstStyle/>
          <a:p>
            <a:pPr indent="0" marL="0">
              <a:buNone/>
            </a:pPr>
            <a:r>
              <a:rPr lang="en-US" sz="1500" b="1" dirty="0">
                <a:solidFill>
                  <a:srgbClr val="FAF7F0"/>
                </a:solidFill>
                <a:latin typeface="Lato" pitchFamily="34" charset="0"/>
                <a:ea typeface="Lato" pitchFamily="34" charset="-122"/>
                <a:cs typeface="Lato" pitchFamily="34" charset="-120"/>
              </a:rPr>
              <a:t>Ms. K. Chandusha</a:t>
            </a:r>
            <a:endParaRPr lang="en-US" sz="1500" dirty="0"/>
          </a:p>
        </p:txBody>
      </p:sp>
      <p:sp>
        <p:nvSpPr>
          <p:cNvPr id="19" name="Text 17"/>
          <p:cNvSpPr txBox="1"/>
          <p:nvPr/>
        </p:nvSpPr>
        <p:spPr>
          <a:xfrm>
            <a:off x="8229600" y="5788152"/>
            <a:ext cx="3520440" cy="320040"/>
          </a:xfrm>
          <a:prstGeom prst="rect">
            <a:avLst/>
          </a:prstGeom>
          <a:noFill/>
          <a:ln/>
        </p:spPr>
        <p:txBody>
          <a:bodyPr wrap="square" lIns="0" tIns="0" rIns="0" bIns="0" rtlCol="0" anchor="ctr"/>
          <a:lstStyle/>
          <a:p>
            <a:pPr indent="0" marL="0">
              <a:buNone/>
            </a:pPr>
            <a:r>
              <a:rPr lang="en-US" sz="1250" dirty="0">
                <a:solidFill>
                  <a:srgbClr val="9DB8B2"/>
                </a:solidFill>
                <a:latin typeface="Lato" pitchFamily="34" charset="0"/>
                <a:ea typeface="Lato" pitchFamily="34" charset="-122"/>
                <a:cs typeface="Lato" pitchFamily="34" charset="-120"/>
              </a:rPr>
              <a:t>Asst. Professor, CS &amp; IT</a:t>
            </a:r>
            <a:endParaRPr lang="en-US" sz="1250" dirty="0"/>
          </a:p>
        </p:txBody>
      </p:sp>
      <p:sp>
        <p:nvSpPr>
          <p:cNvPr id="20" name="Text 18"/>
          <p:cNvSpPr txBox="1"/>
          <p:nvPr/>
        </p:nvSpPr>
        <p:spPr>
          <a:xfrm>
            <a:off x="8229600" y="6080760"/>
            <a:ext cx="3520440" cy="320040"/>
          </a:xfrm>
          <a:prstGeom prst="rect">
            <a:avLst/>
          </a:prstGeom>
          <a:noFill/>
          <a:ln/>
        </p:spPr>
        <p:txBody>
          <a:bodyPr wrap="square" lIns="0" tIns="0" rIns="0" bIns="0" rtlCol="0" anchor="ctr"/>
          <a:lstStyle/>
          <a:p>
            <a:pPr indent="0" marL="0">
              <a:buNone/>
            </a:pPr>
            <a:r>
              <a:rPr lang="en-US" sz="1250" dirty="0">
                <a:solidFill>
                  <a:srgbClr val="9DB8B2"/>
                </a:solidFill>
                <a:latin typeface="Lato" pitchFamily="34" charset="0"/>
                <a:ea typeface="Lato" pitchFamily="34" charset="-122"/>
                <a:cs typeface="Lato" pitchFamily="34" charset="-120"/>
              </a:rPr>
              <a:t>A.Y. 2026–2027</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rect">
            <a:avLst/>
          </a:prstGeom>
          <a:solidFill>
            <a:srgbClr val="C6552B"/>
          </a:solidFill>
          <a:ln/>
        </p:spPr>
      </p:sp>
      <p:sp>
        <p:nvSpPr>
          <p:cNvPr id="3" name="Text 1"/>
          <p:cNvSpPr txBox="1"/>
          <p:nvPr/>
        </p:nvSpPr>
        <p:spPr>
          <a:xfrm>
            <a:off x="786384" y="457200"/>
            <a:ext cx="7315200" cy="320040"/>
          </a:xfrm>
          <a:prstGeom prst="rect">
            <a:avLst/>
          </a:prstGeom>
          <a:noFill/>
          <a:ln/>
        </p:spPr>
        <p:txBody>
          <a:bodyPr wrap="square" lIns="0" tIns="0" rIns="0" bIns="0" rtlCol="0" anchor="ctr"/>
          <a:lstStyle/>
          <a:p>
            <a:pPr indent="0" marL="0">
              <a:buNone/>
            </a:pPr>
            <a:r>
              <a:rPr lang="en-US" sz="1250" b="1" spc="220" kern="0" dirty="0">
                <a:solidFill>
                  <a:srgbClr val="C6552B"/>
                </a:solidFill>
                <a:latin typeface="Lato" pitchFamily="34" charset="0"/>
                <a:ea typeface="Lato" pitchFamily="34" charset="-122"/>
                <a:cs typeface="Lato" pitchFamily="34" charset="-120"/>
              </a:rPr>
              <a:t>PROJECT OVERVIEW</a:t>
            </a:r>
            <a:endParaRPr lang="en-US" sz="1250" dirty="0"/>
          </a:p>
        </p:txBody>
      </p:sp>
      <p:sp>
        <p:nvSpPr>
          <p:cNvPr id="4" name="Text 2"/>
          <p:cNvSpPr txBox="1"/>
          <p:nvPr/>
        </p:nvSpPr>
        <p:spPr>
          <a:xfrm>
            <a:off x="530352" y="804672"/>
            <a:ext cx="9601200" cy="777240"/>
          </a:xfrm>
          <a:prstGeom prst="rect">
            <a:avLst/>
          </a:prstGeom>
          <a:noFill/>
          <a:ln/>
        </p:spPr>
        <p:txBody>
          <a:bodyPr wrap="square" lIns="0" tIns="0" rIns="0" bIns="0" rtlCol="0" anchor="ctr"/>
          <a:lstStyle/>
          <a:p>
            <a:pPr indent="0" marL="0">
              <a:buNone/>
            </a:pPr>
            <a:r>
              <a:rPr lang="en-US" sz="3300" dirty="0">
                <a:solidFill>
                  <a:srgbClr val="1D2422"/>
                </a:solidFill>
                <a:latin typeface="Playfair Display" pitchFamily="34" charset="0"/>
                <a:ea typeface="Playfair Display" pitchFamily="34" charset="-122"/>
                <a:cs typeface="Playfair Display" pitchFamily="34" charset="-120"/>
              </a:rPr>
              <a:t>Abstract</a:t>
            </a:r>
            <a:endParaRPr lang="en-US" sz="3300" dirty="0"/>
          </a:p>
        </p:txBody>
      </p:sp>
      <p:sp>
        <p:nvSpPr>
          <p:cNvPr id="5" name="Text 3"/>
          <p:cNvSpPr txBox="1"/>
          <p:nvPr/>
        </p:nvSpPr>
        <p:spPr>
          <a:xfrm>
            <a:off x="10607040" y="502920"/>
            <a:ext cx="1005840" cy="640080"/>
          </a:xfrm>
          <a:prstGeom prst="rect">
            <a:avLst/>
          </a:prstGeom>
          <a:noFill/>
          <a:ln/>
        </p:spPr>
        <p:txBody>
          <a:bodyPr wrap="square" lIns="0" tIns="0" rIns="0" bIns="0" rtlCol="0" anchor="ctr"/>
          <a:lstStyle/>
          <a:p>
            <a:pPr algn="r" indent="0" marL="0">
              <a:buNone/>
            </a:pPr>
            <a:r>
              <a:rPr lang="en-US" sz="2800" i="1" dirty="0">
                <a:solidFill>
                  <a:srgbClr val="D9D2C4"/>
                </a:solidFill>
                <a:latin typeface="Playfair Display" pitchFamily="34" charset="0"/>
                <a:ea typeface="Playfair Display" pitchFamily="34" charset="-122"/>
                <a:cs typeface="Playfair Display" pitchFamily="34" charset="-120"/>
              </a:rPr>
              <a:t>02</a:t>
            </a:r>
            <a:endParaRPr lang="en-US" sz="2800" dirty="0"/>
          </a:p>
        </p:txBody>
      </p:sp>
      <p:sp>
        <p:nvSpPr>
          <p:cNvPr id="6" name="Shape 4"/>
          <p:cNvSpPr/>
          <p:nvPr/>
        </p:nvSpPr>
        <p:spPr>
          <a:xfrm>
            <a:off x="548640" y="1783080"/>
            <a:ext cx="457200" cy="0"/>
          </a:xfrm>
          <a:prstGeom prst="line">
            <a:avLst/>
          </a:prstGeom>
          <a:noFill/>
          <a:ln w="25400">
            <a:solidFill>
              <a:srgbClr val="C6552B"/>
            </a:solidFill>
            <a:prstDash val="solid"/>
          </a:ln>
        </p:spPr>
      </p:sp>
      <p:sp>
        <p:nvSpPr>
          <p:cNvPr id="7" name="Text 5"/>
          <p:cNvSpPr txBox="1"/>
          <p:nvPr/>
        </p:nvSpPr>
        <p:spPr>
          <a:xfrm>
            <a:off x="548640" y="2011680"/>
            <a:ext cx="6309360" cy="3931920"/>
          </a:xfrm>
          <a:prstGeom prst="rect">
            <a:avLst/>
          </a:prstGeom>
          <a:noFill/>
          <a:ln/>
        </p:spPr>
        <p:txBody>
          <a:bodyPr wrap="square" lIns="0" tIns="0" rIns="0" bIns="0" rtlCol="0" anchor="ctr"/>
          <a:lstStyle/>
          <a:p>
            <a:pPr indent="0" marL="0">
              <a:lnSpc>
                <a:spcPct val="140000"/>
              </a:lnSpc>
              <a:spcAft>
                <a:spcPts val="1000"/>
              </a:spcAft>
              <a:buNone/>
            </a:pPr>
            <a:r>
              <a:rPr lang="en-US" sz="1400" dirty="0">
                <a:solidFill>
                  <a:srgbClr val="5B6560"/>
                </a:solidFill>
                <a:latin typeface="Lato" pitchFamily="34" charset="0"/>
                <a:ea typeface="Lato" pitchFamily="34" charset="-122"/>
                <a:cs typeface="Lato" pitchFamily="34" charset="-120"/>
              </a:rPr>
              <a:t>The Recommendation Engine is a data-driven system designed to provide personalized recommendations based on user preferences, interests and previous interactions. Its main objective is to demonstrate how Data Structures and Algorithms can be applied to solve real-world recommendation problems efficiently.</a:t>
            </a:r>
            <a:endParaRPr lang="en-US" sz="1400" dirty="0"/>
          </a:p>
          <a:p>
            <a:pPr indent="0" marL="0">
              <a:lnSpc>
                <a:spcPct val="140000"/>
              </a:lnSpc>
              <a:spcAft>
                <a:spcPts val="1000"/>
              </a:spcAft>
              <a:buNone/>
            </a:pPr>
            <a:endParaRPr lang="en-US" sz="1400" dirty="0"/>
          </a:p>
          <a:p>
            <a:pPr indent="0" marL="0">
              <a:lnSpc>
                <a:spcPct val="140000"/>
              </a:lnSpc>
              <a:spcAft>
                <a:spcPts val="1000"/>
              </a:spcAft>
              <a:buNone/>
            </a:pPr>
            <a:r>
              <a:rPr lang="en-US" sz="1400" dirty="0">
                <a:solidFill>
                  <a:srgbClr val="5B6560"/>
                </a:solidFill>
                <a:latin typeface="Lato" pitchFamily="34" charset="0"/>
                <a:ea typeface="Lato" pitchFamily="34" charset="-122"/>
                <a:cs typeface="Lato" pitchFamily="34" charset="-120"/>
              </a:rPr>
              <a:t>The system analyzes user-item relationships and interaction patterns, applies searching and sorting techniques to retrieve and rank recommendations, and uses similarity-based methods to match items with user preferences. A priority queue or heap surfaces the most relevant recommendations at the top — keeping the system scalable and efficient as data grows.</a:t>
            </a:r>
            <a:endParaRPr lang="en-US" sz="1400" dirty="0"/>
          </a:p>
        </p:txBody>
      </p:sp>
      <p:sp>
        <p:nvSpPr>
          <p:cNvPr id="8" name="Shape 6"/>
          <p:cNvSpPr/>
          <p:nvPr/>
        </p:nvSpPr>
        <p:spPr>
          <a:xfrm>
            <a:off x="7360920" y="1600200"/>
            <a:ext cx="4297680" cy="4572000"/>
          </a:xfrm>
          <a:prstGeom prst="rect">
            <a:avLst/>
          </a:prstGeom>
          <a:solidFill>
            <a:srgbClr val="0E3B36"/>
          </a:solidFill>
          <a:ln/>
        </p:spPr>
      </p:sp>
      <p:sp>
        <p:nvSpPr>
          <p:cNvPr id="9" name="Text 7"/>
          <p:cNvSpPr txBox="1"/>
          <p:nvPr/>
        </p:nvSpPr>
        <p:spPr>
          <a:xfrm>
            <a:off x="7680960" y="2084832"/>
            <a:ext cx="3657600" cy="365760"/>
          </a:xfrm>
          <a:prstGeom prst="rect">
            <a:avLst/>
          </a:prstGeom>
          <a:noFill/>
          <a:ln/>
        </p:spPr>
        <p:txBody>
          <a:bodyPr wrap="square" lIns="0" tIns="0" rIns="0" bIns="0" rtlCol="0" anchor="ctr"/>
          <a:lstStyle/>
          <a:p>
            <a:pPr indent="0" marL="0">
              <a:buNone/>
            </a:pPr>
            <a:r>
              <a:rPr lang="en-US" sz="1800" dirty="0">
                <a:solidFill>
                  <a:srgbClr val="E8A96F"/>
                </a:solidFill>
                <a:latin typeface="Playfair Display" pitchFamily="34" charset="0"/>
                <a:ea typeface="Playfair Display" pitchFamily="34" charset="-122"/>
                <a:cs typeface="Playfair Display" pitchFamily="34" charset="-120"/>
              </a:rPr>
              <a:t>Personalization</a:t>
            </a:r>
            <a:endParaRPr lang="en-US" sz="1800" dirty="0"/>
          </a:p>
        </p:txBody>
      </p:sp>
      <p:sp>
        <p:nvSpPr>
          <p:cNvPr id="10" name="Text 8"/>
          <p:cNvSpPr txBox="1"/>
          <p:nvPr/>
        </p:nvSpPr>
        <p:spPr>
          <a:xfrm>
            <a:off x="7680960" y="2487168"/>
            <a:ext cx="3657600" cy="685800"/>
          </a:xfrm>
          <a:prstGeom prst="rect">
            <a:avLst/>
          </a:prstGeom>
          <a:noFill/>
          <a:ln/>
        </p:spPr>
        <p:txBody>
          <a:bodyPr wrap="square" lIns="0" tIns="0" rIns="0" bIns="0" rtlCol="0" anchor="ctr"/>
          <a:lstStyle/>
          <a:p>
            <a:pPr indent="0" marL="0">
              <a:lnSpc>
                <a:spcPct val="125000"/>
              </a:lnSpc>
              <a:buNone/>
            </a:pPr>
            <a:r>
              <a:rPr lang="en-US" sz="1200" dirty="0">
                <a:solidFill>
                  <a:srgbClr val="CFE0DC"/>
                </a:solidFill>
                <a:latin typeface="Lato" pitchFamily="34" charset="0"/>
                <a:ea typeface="Lato" pitchFamily="34" charset="-122"/>
                <a:cs typeface="Lato" pitchFamily="34" charset="-120"/>
              </a:rPr>
              <a:t>Recommendations based on preferences, interests and previous interactions</a:t>
            </a:r>
            <a:endParaRPr lang="en-US" sz="1200" dirty="0"/>
          </a:p>
        </p:txBody>
      </p:sp>
      <p:sp>
        <p:nvSpPr>
          <p:cNvPr id="11" name="Shape 9"/>
          <p:cNvSpPr/>
          <p:nvPr/>
        </p:nvSpPr>
        <p:spPr>
          <a:xfrm>
            <a:off x="7680960" y="3273552"/>
            <a:ext cx="3657600" cy="0"/>
          </a:xfrm>
          <a:prstGeom prst="line">
            <a:avLst/>
          </a:prstGeom>
          <a:noFill/>
          <a:ln w="9525">
            <a:solidFill>
              <a:srgbClr val="2A5B54"/>
            </a:solidFill>
            <a:prstDash val="solid"/>
          </a:ln>
        </p:spPr>
      </p:sp>
      <p:sp>
        <p:nvSpPr>
          <p:cNvPr id="12" name="Text 10"/>
          <p:cNvSpPr txBox="1"/>
          <p:nvPr/>
        </p:nvSpPr>
        <p:spPr>
          <a:xfrm>
            <a:off x="7680960" y="3438144"/>
            <a:ext cx="3657600" cy="365760"/>
          </a:xfrm>
          <a:prstGeom prst="rect">
            <a:avLst/>
          </a:prstGeom>
          <a:noFill/>
          <a:ln/>
        </p:spPr>
        <p:txBody>
          <a:bodyPr wrap="square" lIns="0" tIns="0" rIns="0" bIns="0" rtlCol="0" anchor="ctr"/>
          <a:lstStyle/>
          <a:p>
            <a:pPr indent="0" marL="0">
              <a:buNone/>
            </a:pPr>
            <a:r>
              <a:rPr lang="en-US" sz="1800" dirty="0">
                <a:solidFill>
                  <a:srgbClr val="E8A96F"/>
                </a:solidFill>
                <a:latin typeface="Playfair Display" pitchFamily="34" charset="0"/>
                <a:ea typeface="Playfair Display" pitchFamily="34" charset="-122"/>
                <a:cs typeface="Playfair Display" pitchFamily="34" charset="-120"/>
              </a:rPr>
              <a:t>DSA-driven Ranking</a:t>
            </a:r>
            <a:endParaRPr lang="en-US" sz="1800" dirty="0"/>
          </a:p>
        </p:txBody>
      </p:sp>
      <p:sp>
        <p:nvSpPr>
          <p:cNvPr id="13" name="Text 11"/>
          <p:cNvSpPr txBox="1"/>
          <p:nvPr/>
        </p:nvSpPr>
        <p:spPr>
          <a:xfrm>
            <a:off x="7680960" y="3840480"/>
            <a:ext cx="3657600" cy="685800"/>
          </a:xfrm>
          <a:prstGeom prst="rect">
            <a:avLst/>
          </a:prstGeom>
          <a:noFill/>
          <a:ln/>
        </p:spPr>
        <p:txBody>
          <a:bodyPr wrap="square" lIns="0" tIns="0" rIns="0" bIns="0" rtlCol="0" anchor="ctr"/>
          <a:lstStyle/>
          <a:p>
            <a:pPr indent="0" marL="0">
              <a:lnSpc>
                <a:spcPct val="125000"/>
              </a:lnSpc>
              <a:buNone/>
            </a:pPr>
            <a:r>
              <a:rPr lang="en-US" sz="1200" dirty="0">
                <a:solidFill>
                  <a:srgbClr val="CFE0DC"/>
                </a:solidFill>
                <a:latin typeface="Lato" pitchFamily="34" charset="0"/>
                <a:ea typeface="Lato" pitchFamily="34" charset="-122"/>
                <a:cs typeface="Lato" pitchFamily="34" charset="-120"/>
              </a:rPr>
              <a:t>Searching, sorting, similarity techniques and priority queues / heaps</a:t>
            </a:r>
            <a:endParaRPr lang="en-US" sz="1200" dirty="0"/>
          </a:p>
        </p:txBody>
      </p:sp>
      <p:sp>
        <p:nvSpPr>
          <p:cNvPr id="14" name="Shape 12"/>
          <p:cNvSpPr/>
          <p:nvPr/>
        </p:nvSpPr>
        <p:spPr>
          <a:xfrm>
            <a:off x="7680960" y="4626864"/>
            <a:ext cx="3657600" cy="0"/>
          </a:xfrm>
          <a:prstGeom prst="line">
            <a:avLst/>
          </a:prstGeom>
          <a:noFill/>
          <a:ln w="9525">
            <a:solidFill>
              <a:srgbClr val="2A5B54"/>
            </a:solidFill>
            <a:prstDash val="solid"/>
          </a:ln>
        </p:spPr>
      </p:sp>
      <p:sp>
        <p:nvSpPr>
          <p:cNvPr id="15" name="Text 13"/>
          <p:cNvSpPr txBox="1"/>
          <p:nvPr/>
        </p:nvSpPr>
        <p:spPr>
          <a:xfrm>
            <a:off x="7680960" y="4791456"/>
            <a:ext cx="3657600" cy="365760"/>
          </a:xfrm>
          <a:prstGeom prst="rect">
            <a:avLst/>
          </a:prstGeom>
          <a:noFill/>
          <a:ln/>
        </p:spPr>
        <p:txBody>
          <a:bodyPr wrap="square" lIns="0" tIns="0" rIns="0" bIns="0" rtlCol="0" anchor="ctr"/>
          <a:lstStyle/>
          <a:p>
            <a:pPr indent="0" marL="0">
              <a:buNone/>
            </a:pPr>
            <a:r>
              <a:rPr lang="en-US" sz="1800" dirty="0">
                <a:solidFill>
                  <a:srgbClr val="E8A96F"/>
                </a:solidFill>
                <a:latin typeface="Playfair Display" pitchFamily="34" charset="0"/>
                <a:ea typeface="Playfair Display" pitchFamily="34" charset="-122"/>
                <a:cs typeface="Playfair Display" pitchFamily="34" charset="-120"/>
              </a:rPr>
              <a:t>Efficient Recommendation</a:t>
            </a:r>
            <a:endParaRPr lang="en-US" sz="1800" dirty="0"/>
          </a:p>
        </p:txBody>
      </p:sp>
      <p:sp>
        <p:nvSpPr>
          <p:cNvPr id="16" name="Text 14"/>
          <p:cNvSpPr txBox="1"/>
          <p:nvPr/>
        </p:nvSpPr>
        <p:spPr>
          <a:xfrm>
            <a:off x="7680960" y="5193792"/>
            <a:ext cx="3657600" cy="685800"/>
          </a:xfrm>
          <a:prstGeom prst="rect">
            <a:avLst/>
          </a:prstGeom>
          <a:noFill/>
          <a:ln/>
        </p:spPr>
        <p:txBody>
          <a:bodyPr wrap="square" lIns="0" tIns="0" rIns="0" bIns="0" rtlCol="0" anchor="ctr"/>
          <a:lstStyle/>
          <a:p>
            <a:pPr indent="0" marL="0">
              <a:lnSpc>
                <a:spcPct val="125000"/>
              </a:lnSpc>
              <a:buNone/>
            </a:pPr>
            <a:r>
              <a:rPr lang="en-US" sz="1200" dirty="0">
                <a:solidFill>
                  <a:srgbClr val="CFE0DC"/>
                </a:solidFill>
                <a:latin typeface="Lato" pitchFamily="34" charset="0"/>
                <a:ea typeface="Lato" pitchFamily="34" charset="-122"/>
                <a:cs typeface="Lato" pitchFamily="34" charset="-120"/>
              </a:rPr>
              <a:t>Focus on search efficiency, ranking accuracy and response time</a:t>
            </a:r>
            <a:endParaRPr lang="en-US" sz="1200" dirty="0"/>
          </a:p>
        </p:txBody>
      </p:sp>
      <p:sp>
        <p:nvSpPr>
          <p:cNvPr id="17" name="Text 15"/>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spc="150" kern="0" dirty="0">
                <a:solidFill>
                  <a:srgbClr val="5B6560"/>
                </a:solidFill>
                <a:latin typeface="Lato" pitchFamily="34" charset="0"/>
                <a:ea typeface="Lato" pitchFamily="34" charset="-122"/>
                <a:cs typeface="Lato" pitchFamily="34" charset="-120"/>
              </a:rPr>
              <a:t>RECOMMENDATION ENGINE</a:t>
            </a:r>
            <a:endParaRPr lang="en-US" sz="900" dirty="0"/>
          </a:p>
        </p:txBody>
      </p:sp>
      <p:sp>
        <p:nvSpPr>
          <p:cNvPr id="18" name="Text 16"/>
          <p:cNvSpPr txBox="1"/>
          <p:nvPr/>
        </p:nvSpPr>
        <p:spPr>
          <a:xfrm>
            <a:off x="11183112" y="6473952"/>
            <a:ext cx="548640" cy="274320"/>
          </a:xfrm>
          <a:prstGeom prst="rect">
            <a:avLst/>
          </a:prstGeom>
          <a:noFill/>
          <a:ln/>
        </p:spPr>
        <p:txBody>
          <a:bodyPr wrap="square" lIns="0" tIns="0" rIns="0" bIns="0" rtlCol="0" anchor="ctr"/>
          <a:lstStyle/>
          <a:p>
            <a:pPr algn="r" indent="0" marL="0">
              <a:buNone/>
            </a:pPr>
            <a:r>
              <a:rPr lang="en-US" sz="900" spc="100" kern="0" dirty="0">
                <a:solidFill>
                  <a:srgbClr val="5B6560"/>
                </a:solidFill>
                <a:latin typeface="Lato" pitchFamily="34" charset="0"/>
                <a:ea typeface="Lato" pitchFamily="34" charset="-122"/>
                <a:cs typeface="Lato" pitchFamily="34" charset="-120"/>
              </a:rPr>
              <a:t>02</a:t>
            </a:r>
            <a:endParaRPr lang="en-US" sz="900" dirty="0"/>
          </a:p>
        </p:txBody>
      </p:sp>
      <p:sp>
        <p:nvSpPr>
          <p:cNvPr id="19" name="Shape 17"/>
          <p:cNvSpPr/>
          <p:nvPr/>
        </p:nvSpPr>
        <p:spPr>
          <a:xfrm>
            <a:off x="548640" y="6355080"/>
            <a:ext cx="11091672" cy="0"/>
          </a:xfrm>
          <a:prstGeom prst="line">
            <a:avLst/>
          </a:prstGeom>
          <a:noFill/>
          <a:ln w="9525">
            <a:solidFill>
              <a:srgbClr val="D9D2C4"/>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rect">
            <a:avLst/>
          </a:prstGeom>
          <a:solidFill>
            <a:srgbClr val="C6552B"/>
          </a:solidFill>
          <a:ln/>
        </p:spPr>
      </p:sp>
      <p:sp>
        <p:nvSpPr>
          <p:cNvPr id="3" name="Text 1"/>
          <p:cNvSpPr txBox="1"/>
          <p:nvPr/>
        </p:nvSpPr>
        <p:spPr>
          <a:xfrm>
            <a:off x="786384" y="457200"/>
            <a:ext cx="7315200" cy="320040"/>
          </a:xfrm>
          <a:prstGeom prst="rect">
            <a:avLst/>
          </a:prstGeom>
          <a:noFill/>
          <a:ln/>
        </p:spPr>
        <p:txBody>
          <a:bodyPr wrap="square" lIns="0" tIns="0" rIns="0" bIns="0" rtlCol="0" anchor="ctr"/>
          <a:lstStyle/>
          <a:p>
            <a:pPr indent="0" marL="0">
              <a:buNone/>
            </a:pPr>
            <a:r>
              <a:rPr lang="en-US" sz="1250" b="1" spc="220" kern="0" dirty="0">
                <a:solidFill>
                  <a:srgbClr val="C6552B"/>
                </a:solidFill>
                <a:latin typeface="Lato" pitchFamily="34" charset="0"/>
                <a:ea typeface="Lato" pitchFamily="34" charset="-122"/>
                <a:cs typeface="Lato" pitchFamily="34" charset="-120"/>
              </a:rPr>
              <a:t>GETTING STARTED</a:t>
            </a:r>
            <a:endParaRPr lang="en-US" sz="1250" dirty="0"/>
          </a:p>
        </p:txBody>
      </p:sp>
      <p:sp>
        <p:nvSpPr>
          <p:cNvPr id="4" name="Text 2"/>
          <p:cNvSpPr txBox="1"/>
          <p:nvPr/>
        </p:nvSpPr>
        <p:spPr>
          <a:xfrm>
            <a:off x="530352" y="804672"/>
            <a:ext cx="9601200" cy="777240"/>
          </a:xfrm>
          <a:prstGeom prst="rect">
            <a:avLst/>
          </a:prstGeom>
          <a:noFill/>
          <a:ln/>
        </p:spPr>
        <p:txBody>
          <a:bodyPr wrap="square" lIns="0" tIns="0" rIns="0" bIns="0" rtlCol="0" anchor="ctr"/>
          <a:lstStyle/>
          <a:p>
            <a:pPr indent="0" marL="0">
              <a:buNone/>
            </a:pPr>
            <a:r>
              <a:rPr lang="en-US" sz="3300" dirty="0">
                <a:solidFill>
                  <a:srgbClr val="1D2422"/>
                </a:solidFill>
                <a:latin typeface="Playfair Display" pitchFamily="34" charset="0"/>
                <a:ea typeface="Playfair Display" pitchFamily="34" charset="-122"/>
                <a:cs typeface="Playfair Display" pitchFamily="34" charset="-120"/>
              </a:rPr>
              <a:t>Introduction</a:t>
            </a:r>
            <a:endParaRPr lang="en-US" sz="3300" dirty="0"/>
          </a:p>
        </p:txBody>
      </p:sp>
      <p:sp>
        <p:nvSpPr>
          <p:cNvPr id="5" name="Text 3"/>
          <p:cNvSpPr txBox="1"/>
          <p:nvPr/>
        </p:nvSpPr>
        <p:spPr>
          <a:xfrm>
            <a:off x="10607040" y="502920"/>
            <a:ext cx="1005840" cy="640080"/>
          </a:xfrm>
          <a:prstGeom prst="rect">
            <a:avLst/>
          </a:prstGeom>
          <a:noFill/>
          <a:ln/>
        </p:spPr>
        <p:txBody>
          <a:bodyPr wrap="square" lIns="0" tIns="0" rIns="0" bIns="0" rtlCol="0" anchor="ctr"/>
          <a:lstStyle/>
          <a:p>
            <a:pPr algn="r" indent="0" marL="0">
              <a:buNone/>
            </a:pPr>
            <a:r>
              <a:rPr lang="en-US" sz="2800" i="1" dirty="0">
                <a:solidFill>
                  <a:srgbClr val="D9D2C4"/>
                </a:solidFill>
                <a:latin typeface="Playfair Display" pitchFamily="34" charset="0"/>
                <a:ea typeface="Playfair Display" pitchFamily="34" charset="-122"/>
                <a:cs typeface="Playfair Display" pitchFamily="34" charset="-120"/>
              </a:rPr>
              <a:t>03</a:t>
            </a:r>
            <a:endParaRPr lang="en-US" sz="2800" dirty="0"/>
          </a:p>
        </p:txBody>
      </p:sp>
      <p:sp>
        <p:nvSpPr>
          <p:cNvPr id="6" name="Text 4"/>
          <p:cNvSpPr txBox="1"/>
          <p:nvPr/>
        </p:nvSpPr>
        <p:spPr>
          <a:xfrm>
            <a:off x="548640" y="1984248"/>
            <a:ext cx="1005840" cy="777240"/>
          </a:xfrm>
          <a:prstGeom prst="rect">
            <a:avLst/>
          </a:prstGeom>
          <a:noFill/>
          <a:ln/>
        </p:spPr>
        <p:txBody>
          <a:bodyPr wrap="square" lIns="0" tIns="0" rIns="0" bIns="0" rtlCol="0" anchor="ctr"/>
          <a:lstStyle/>
          <a:p>
            <a:pPr indent="0" marL="0">
              <a:buNone/>
            </a:pPr>
            <a:r>
              <a:rPr lang="en-US" sz="3000" i="1" dirty="0">
                <a:solidFill>
                  <a:srgbClr val="D9D2C4"/>
                </a:solidFill>
                <a:latin typeface="Playfair Display" pitchFamily="34" charset="0"/>
                <a:ea typeface="Playfair Display" pitchFamily="34" charset="-122"/>
                <a:cs typeface="Playfair Display" pitchFamily="34" charset="-120"/>
              </a:rPr>
              <a:t>01</a:t>
            </a:r>
            <a:endParaRPr lang="en-US" sz="3000" dirty="0"/>
          </a:p>
        </p:txBody>
      </p:sp>
      <p:sp>
        <p:nvSpPr>
          <p:cNvPr id="7" name="Text 5"/>
          <p:cNvSpPr txBox="1"/>
          <p:nvPr/>
        </p:nvSpPr>
        <p:spPr>
          <a:xfrm>
            <a:off x="1737360" y="1984248"/>
            <a:ext cx="2834640" cy="777240"/>
          </a:xfrm>
          <a:prstGeom prst="rect">
            <a:avLst/>
          </a:prstGeom>
          <a:noFill/>
          <a:ln/>
        </p:spPr>
        <p:txBody>
          <a:bodyPr wrap="square" lIns="0" tIns="0" rIns="0" bIns="0" rtlCol="0" anchor="ctr"/>
          <a:lstStyle/>
          <a:p>
            <a:pPr indent="0" marL="0">
              <a:buNone/>
            </a:pPr>
            <a:r>
              <a:rPr lang="en-US" sz="1900" dirty="0">
                <a:solidFill>
                  <a:srgbClr val="0E3B36"/>
                </a:solidFill>
                <a:latin typeface="Playfair Display" pitchFamily="34" charset="0"/>
                <a:ea typeface="Playfair Display" pitchFamily="34" charset="-122"/>
                <a:cs typeface="Playfair Display" pitchFamily="34" charset="-120"/>
              </a:rPr>
              <a:t>The Problem</a:t>
            </a:r>
            <a:endParaRPr lang="en-US" sz="1900" dirty="0"/>
          </a:p>
        </p:txBody>
      </p:sp>
      <p:sp>
        <p:nvSpPr>
          <p:cNvPr id="8" name="Text 6"/>
          <p:cNvSpPr txBox="1"/>
          <p:nvPr/>
        </p:nvSpPr>
        <p:spPr>
          <a:xfrm>
            <a:off x="4709160" y="1984248"/>
            <a:ext cx="6949440" cy="777240"/>
          </a:xfrm>
          <a:prstGeom prst="rect">
            <a:avLst/>
          </a:prstGeom>
          <a:noFill/>
          <a:ln/>
        </p:spPr>
        <p:txBody>
          <a:bodyPr wrap="square" lIns="0" tIns="0" rIns="0" bIns="0" rtlCol="0" anchor="ctr"/>
          <a:lstStyle/>
          <a:p>
            <a:pPr indent="0" marL="0">
              <a:lnSpc>
                <a:spcPct val="125000"/>
              </a:lnSpc>
              <a:buNone/>
            </a:pPr>
            <a:r>
              <a:rPr lang="en-US" sz="1300" dirty="0">
                <a:solidFill>
                  <a:srgbClr val="5B6560"/>
                </a:solidFill>
                <a:latin typeface="Lato" pitchFamily="34" charset="0"/>
                <a:ea typeface="Lato" pitchFamily="34" charset="-122"/>
                <a:cs typeface="Lato" pitchFamily="34" charset="-120"/>
              </a:rPr>
              <a:t>Users face difficulty finding relevant items among large collections; basic retrieval methods may not efficiently identify and rank the most relevant items.</a:t>
            </a:r>
            <a:endParaRPr lang="en-US" sz="1300" dirty="0"/>
          </a:p>
        </p:txBody>
      </p:sp>
      <p:sp>
        <p:nvSpPr>
          <p:cNvPr id="9" name="Shape 7"/>
          <p:cNvSpPr/>
          <p:nvPr/>
        </p:nvSpPr>
        <p:spPr>
          <a:xfrm>
            <a:off x="548640" y="2898648"/>
            <a:ext cx="11109960" cy="0"/>
          </a:xfrm>
          <a:prstGeom prst="line">
            <a:avLst/>
          </a:prstGeom>
          <a:noFill/>
          <a:ln w="9525">
            <a:solidFill>
              <a:srgbClr val="D9D2C4"/>
            </a:solidFill>
            <a:prstDash val="solid"/>
          </a:ln>
        </p:spPr>
      </p:sp>
      <p:sp>
        <p:nvSpPr>
          <p:cNvPr id="10" name="Text 8"/>
          <p:cNvSpPr txBox="1"/>
          <p:nvPr/>
        </p:nvSpPr>
        <p:spPr>
          <a:xfrm>
            <a:off x="548640" y="3008376"/>
            <a:ext cx="1005840" cy="777240"/>
          </a:xfrm>
          <a:prstGeom prst="rect">
            <a:avLst/>
          </a:prstGeom>
          <a:noFill/>
          <a:ln/>
        </p:spPr>
        <p:txBody>
          <a:bodyPr wrap="square" lIns="0" tIns="0" rIns="0" bIns="0" rtlCol="0" anchor="ctr"/>
          <a:lstStyle/>
          <a:p>
            <a:pPr indent="0" marL="0">
              <a:buNone/>
            </a:pPr>
            <a:r>
              <a:rPr lang="en-US" sz="3000" i="1" dirty="0">
                <a:solidFill>
                  <a:srgbClr val="D9D2C4"/>
                </a:solidFill>
                <a:latin typeface="Playfair Display" pitchFamily="34" charset="0"/>
                <a:ea typeface="Playfair Display" pitchFamily="34" charset="-122"/>
                <a:cs typeface="Playfair Display" pitchFamily="34" charset="-120"/>
              </a:rPr>
              <a:t>02</a:t>
            </a:r>
            <a:endParaRPr lang="en-US" sz="3000" dirty="0"/>
          </a:p>
        </p:txBody>
      </p:sp>
      <p:sp>
        <p:nvSpPr>
          <p:cNvPr id="11" name="Text 9"/>
          <p:cNvSpPr txBox="1"/>
          <p:nvPr/>
        </p:nvSpPr>
        <p:spPr>
          <a:xfrm>
            <a:off x="1737360" y="3008376"/>
            <a:ext cx="2834640" cy="777240"/>
          </a:xfrm>
          <a:prstGeom prst="rect">
            <a:avLst/>
          </a:prstGeom>
          <a:noFill/>
          <a:ln/>
        </p:spPr>
        <p:txBody>
          <a:bodyPr wrap="square" lIns="0" tIns="0" rIns="0" bIns="0" rtlCol="0" anchor="ctr"/>
          <a:lstStyle/>
          <a:p>
            <a:pPr indent="0" marL="0">
              <a:buNone/>
            </a:pPr>
            <a:r>
              <a:rPr lang="en-US" sz="1900" dirty="0">
                <a:solidFill>
                  <a:srgbClr val="0E3B36"/>
                </a:solidFill>
                <a:latin typeface="Playfair Display" pitchFamily="34" charset="0"/>
                <a:ea typeface="Playfair Display" pitchFamily="34" charset="-122"/>
                <a:cs typeface="Playfair Display" pitchFamily="34" charset="-120"/>
              </a:rPr>
              <a:t>The Opportunity</a:t>
            </a:r>
            <a:endParaRPr lang="en-US" sz="1900" dirty="0"/>
          </a:p>
        </p:txBody>
      </p:sp>
      <p:sp>
        <p:nvSpPr>
          <p:cNvPr id="12" name="Text 10"/>
          <p:cNvSpPr txBox="1"/>
          <p:nvPr/>
        </p:nvSpPr>
        <p:spPr>
          <a:xfrm>
            <a:off x="4709160" y="3008376"/>
            <a:ext cx="6949440" cy="777240"/>
          </a:xfrm>
          <a:prstGeom prst="rect">
            <a:avLst/>
          </a:prstGeom>
          <a:noFill/>
          <a:ln/>
        </p:spPr>
        <p:txBody>
          <a:bodyPr wrap="square" lIns="0" tIns="0" rIns="0" bIns="0" rtlCol="0" anchor="ctr"/>
          <a:lstStyle/>
          <a:p>
            <a:pPr indent="0" marL="0">
              <a:lnSpc>
                <a:spcPct val="125000"/>
              </a:lnSpc>
              <a:buNone/>
            </a:pPr>
            <a:r>
              <a:rPr lang="en-US" sz="1300" dirty="0">
                <a:solidFill>
                  <a:srgbClr val="5B6560"/>
                </a:solidFill>
                <a:latin typeface="Lato" pitchFamily="34" charset="0"/>
                <a:ea typeface="Lato" pitchFamily="34" charset="-122"/>
                <a:cs typeface="Lato" pitchFamily="34" charset="-120"/>
              </a:rPr>
              <a:t>Data structures and algorithms can organize user/item information and significantly improve recommendation efficiency.</a:t>
            </a:r>
            <a:endParaRPr lang="en-US" sz="1300" dirty="0"/>
          </a:p>
        </p:txBody>
      </p:sp>
      <p:sp>
        <p:nvSpPr>
          <p:cNvPr id="13" name="Shape 11"/>
          <p:cNvSpPr/>
          <p:nvPr/>
        </p:nvSpPr>
        <p:spPr>
          <a:xfrm>
            <a:off x="548640" y="3922776"/>
            <a:ext cx="11109960" cy="0"/>
          </a:xfrm>
          <a:prstGeom prst="line">
            <a:avLst/>
          </a:prstGeom>
          <a:noFill/>
          <a:ln w="9525">
            <a:solidFill>
              <a:srgbClr val="D9D2C4"/>
            </a:solidFill>
            <a:prstDash val="solid"/>
          </a:ln>
        </p:spPr>
      </p:sp>
      <p:sp>
        <p:nvSpPr>
          <p:cNvPr id="14" name="Text 12"/>
          <p:cNvSpPr txBox="1"/>
          <p:nvPr/>
        </p:nvSpPr>
        <p:spPr>
          <a:xfrm>
            <a:off x="548640" y="4032504"/>
            <a:ext cx="1005840" cy="777240"/>
          </a:xfrm>
          <a:prstGeom prst="rect">
            <a:avLst/>
          </a:prstGeom>
          <a:noFill/>
          <a:ln/>
        </p:spPr>
        <p:txBody>
          <a:bodyPr wrap="square" lIns="0" tIns="0" rIns="0" bIns="0" rtlCol="0" anchor="ctr"/>
          <a:lstStyle/>
          <a:p>
            <a:pPr indent="0" marL="0">
              <a:buNone/>
            </a:pPr>
            <a:r>
              <a:rPr lang="en-US" sz="3000" i="1" dirty="0">
                <a:solidFill>
                  <a:srgbClr val="D9D2C4"/>
                </a:solidFill>
                <a:latin typeface="Playfair Display" pitchFamily="34" charset="0"/>
                <a:ea typeface="Playfair Display" pitchFamily="34" charset="-122"/>
                <a:cs typeface="Playfair Display" pitchFamily="34" charset="-120"/>
              </a:rPr>
              <a:t>03</a:t>
            </a:r>
            <a:endParaRPr lang="en-US" sz="3000" dirty="0"/>
          </a:p>
        </p:txBody>
      </p:sp>
      <p:sp>
        <p:nvSpPr>
          <p:cNvPr id="15" name="Text 13"/>
          <p:cNvSpPr txBox="1"/>
          <p:nvPr/>
        </p:nvSpPr>
        <p:spPr>
          <a:xfrm>
            <a:off x="1737360" y="4032504"/>
            <a:ext cx="2834640" cy="777240"/>
          </a:xfrm>
          <a:prstGeom prst="rect">
            <a:avLst/>
          </a:prstGeom>
          <a:noFill/>
          <a:ln/>
        </p:spPr>
        <p:txBody>
          <a:bodyPr wrap="square" lIns="0" tIns="0" rIns="0" bIns="0" rtlCol="0" anchor="ctr"/>
          <a:lstStyle/>
          <a:p>
            <a:pPr indent="0" marL="0">
              <a:buNone/>
            </a:pPr>
            <a:r>
              <a:rPr lang="en-US" sz="1900" dirty="0">
                <a:solidFill>
                  <a:srgbClr val="0E3B36"/>
                </a:solidFill>
                <a:latin typeface="Playfair Display" pitchFamily="34" charset="0"/>
                <a:ea typeface="Playfair Display" pitchFamily="34" charset="-122"/>
                <a:cs typeface="Playfair Display" pitchFamily="34" charset="-120"/>
              </a:rPr>
              <a:t>Our Objective</a:t>
            </a:r>
            <a:endParaRPr lang="en-US" sz="1900" dirty="0"/>
          </a:p>
        </p:txBody>
      </p:sp>
      <p:sp>
        <p:nvSpPr>
          <p:cNvPr id="16" name="Text 14"/>
          <p:cNvSpPr txBox="1"/>
          <p:nvPr/>
        </p:nvSpPr>
        <p:spPr>
          <a:xfrm>
            <a:off x="4709160" y="4032504"/>
            <a:ext cx="6949440" cy="777240"/>
          </a:xfrm>
          <a:prstGeom prst="rect">
            <a:avLst/>
          </a:prstGeom>
          <a:noFill/>
          <a:ln/>
        </p:spPr>
        <p:txBody>
          <a:bodyPr wrap="square" lIns="0" tIns="0" rIns="0" bIns="0" rtlCol="0" anchor="ctr"/>
          <a:lstStyle/>
          <a:p>
            <a:pPr indent="0" marL="0">
              <a:lnSpc>
                <a:spcPct val="125000"/>
              </a:lnSpc>
              <a:buNone/>
            </a:pPr>
            <a:r>
              <a:rPr lang="en-US" sz="1300" dirty="0">
                <a:solidFill>
                  <a:srgbClr val="5B6560"/>
                </a:solidFill>
                <a:latin typeface="Lato" pitchFamily="34" charset="0"/>
                <a:ea typeface="Lato" pitchFamily="34" charset="-122"/>
                <a:cs typeface="Lato" pitchFamily="34" charset="-120"/>
              </a:rPr>
              <a:t>Build a recommendation engine that uses DSA concepts to analyze user-item relationships and generate relevant recommendations.</a:t>
            </a:r>
            <a:endParaRPr lang="en-US" sz="1300" dirty="0"/>
          </a:p>
        </p:txBody>
      </p:sp>
      <p:sp>
        <p:nvSpPr>
          <p:cNvPr id="17" name="Shape 15"/>
          <p:cNvSpPr/>
          <p:nvPr/>
        </p:nvSpPr>
        <p:spPr>
          <a:xfrm>
            <a:off x="548640" y="4946904"/>
            <a:ext cx="11109960" cy="0"/>
          </a:xfrm>
          <a:prstGeom prst="line">
            <a:avLst/>
          </a:prstGeom>
          <a:noFill/>
          <a:ln w="9525">
            <a:solidFill>
              <a:srgbClr val="D9D2C4"/>
            </a:solidFill>
            <a:prstDash val="solid"/>
          </a:ln>
        </p:spPr>
      </p:sp>
      <p:sp>
        <p:nvSpPr>
          <p:cNvPr id="18" name="Text 16"/>
          <p:cNvSpPr txBox="1"/>
          <p:nvPr/>
        </p:nvSpPr>
        <p:spPr>
          <a:xfrm>
            <a:off x="548640" y="5056632"/>
            <a:ext cx="1005840" cy="777240"/>
          </a:xfrm>
          <a:prstGeom prst="rect">
            <a:avLst/>
          </a:prstGeom>
          <a:noFill/>
          <a:ln/>
        </p:spPr>
        <p:txBody>
          <a:bodyPr wrap="square" lIns="0" tIns="0" rIns="0" bIns="0" rtlCol="0" anchor="ctr"/>
          <a:lstStyle/>
          <a:p>
            <a:pPr indent="0" marL="0">
              <a:buNone/>
            </a:pPr>
            <a:r>
              <a:rPr lang="en-US" sz="3000" i="1" dirty="0">
                <a:solidFill>
                  <a:srgbClr val="D9D2C4"/>
                </a:solidFill>
                <a:latin typeface="Playfair Display" pitchFamily="34" charset="0"/>
                <a:ea typeface="Playfair Display" pitchFamily="34" charset="-122"/>
                <a:cs typeface="Playfair Display" pitchFamily="34" charset="-120"/>
              </a:rPr>
              <a:t>04</a:t>
            </a:r>
            <a:endParaRPr lang="en-US" sz="3000" dirty="0"/>
          </a:p>
        </p:txBody>
      </p:sp>
      <p:sp>
        <p:nvSpPr>
          <p:cNvPr id="19" name="Text 17"/>
          <p:cNvSpPr txBox="1"/>
          <p:nvPr/>
        </p:nvSpPr>
        <p:spPr>
          <a:xfrm>
            <a:off x="1737360" y="5056632"/>
            <a:ext cx="2834640" cy="777240"/>
          </a:xfrm>
          <a:prstGeom prst="rect">
            <a:avLst/>
          </a:prstGeom>
          <a:noFill/>
          <a:ln/>
        </p:spPr>
        <p:txBody>
          <a:bodyPr wrap="square" lIns="0" tIns="0" rIns="0" bIns="0" rtlCol="0" anchor="ctr"/>
          <a:lstStyle/>
          <a:p>
            <a:pPr indent="0" marL="0">
              <a:buNone/>
            </a:pPr>
            <a:r>
              <a:rPr lang="en-US" sz="1900" dirty="0">
                <a:solidFill>
                  <a:srgbClr val="0E3B36"/>
                </a:solidFill>
                <a:latin typeface="Playfair Display" pitchFamily="34" charset="0"/>
                <a:ea typeface="Playfair Display" pitchFamily="34" charset="-122"/>
                <a:cs typeface="Playfair Display" pitchFamily="34" charset="-120"/>
              </a:rPr>
              <a:t>Our Scope</a:t>
            </a:r>
            <a:endParaRPr lang="en-US" sz="1900" dirty="0"/>
          </a:p>
        </p:txBody>
      </p:sp>
      <p:sp>
        <p:nvSpPr>
          <p:cNvPr id="20" name="Text 18"/>
          <p:cNvSpPr txBox="1"/>
          <p:nvPr/>
        </p:nvSpPr>
        <p:spPr>
          <a:xfrm>
            <a:off x="4709160" y="5056632"/>
            <a:ext cx="6949440" cy="777240"/>
          </a:xfrm>
          <a:prstGeom prst="rect">
            <a:avLst/>
          </a:prstGeom>
          <a:noFill/>
          <a:ln/>
        </p:spPr>
        <p:txBody>
          <a:bodyPr wrap="square" lIns="0" tIns="0" rIns="0" bIns="0" rtlCol="0" anchor="ctr"/>
          <a:lstStyle/>
          <a:p>
            <a:pPr indent="0" marL="0">
              <a:lnSpc>
                <a:spcPct val="125000"/>
              </a:lnSpc>
              <a:buNone/>
            </a:pPr>
            <a:r>
              <a:rPr lang="en-US" sz="1300" dirty="0">
                <a:solidFill>
                  <a:srgbClr val="5B6560"/>
                </a:solidFill>
                <a:latin typeface="Lato" pitchFamily="34" charset="0"/>
                <a:ea typeface="Lato" pitchFamily="34" charset="-122"/>
                <a:cs typeface="Lato" pitchFamily="34" charset="-120"/>
              </a:rPr>
              <a:t>Demonstrate a scalable recommendation system applicable to movies, books, products, music and online learning resources.</a:t>
            </a:r>
            <a:endParaRPr lang="en-US" sz="1300" dirty="0"/>
          </a:p>
        </p:txBody>
      </p:sp>
      <p:sp>
        <p:nvSpPr>
          <p:cNvPr id="21" name="Text 1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spc="150" kern="0" dirty="0">
                <a:solidFill>
                  <a:srgbClr val="5B6560"/>
                </a:solidFill>
                <a:latin typeface="Lato" pitchFamily="34" charset="0"/>
                <a:ea typeface="Lato" pitchFamily="34" charset="-122"/>
                <a:cs typeface="Lato" pitchFamily="34" charset="-120"/>
              </a:rPr>
              <a:t>RECOMMENDATION ENGINE</a:t>
            </a:r>
            <a:endParaRPr lang="en-US" sz="900" dirty="0"/>
          </a:p>
        </p:txBody>
      </p:sp>
      <p:sp>
        <p:nvSpPr>
          <p:cNvPr id="22" name="Text 20"/>
          <p:cNvSpPr txBox="1"/>
          <p:nvPr/>
        </p:nvSpPr>
        <p:spPr>
          <a:xfrm>
            <a:off x="11183112" y="6473952"/>
            <a:ext cx="548640" cy="274320"/>
          </a:xfrm>
          <a:prstGeom prst="rect">
            <a:avLst/>
          </a:prstGeom>
          <a:noFill/>
          <a:ln/>
        </p:spPr>
        <p:txBody>
          <a:bodyPr wrap="square" lIns="0" tIns="0" rIns="0" bIns="0" rtlCol="0" anchor="ctr"/>
          <a:lstStyle/>
          <a:p>
            <a:pPr algn="r" indent="0" marL="0">
              <a:buNone/>
            </a:pPr>
            <a:r>
              <a:rPr lang="en-US" sz="900" spc="100" kern="0" dirty="0">
                <a:solidFill>
                  <a:srgbClr val="5B6560"/>
                </a:solidFill>
                <a:latin typeface="Lato" pitchFamily="34" charset="0"/>
                <a:ea typeface="Lato" pitchFamily="34" charset="-122"/>
                <a:cs typeface="Lato" pitchFamily="34" charset="-120"/>
              </a:rPr>
              <a:t>03</a:t>
            </a:r>
            <a:endParaRPr lang="en-US" sz="900" dirty="0"/>
          </a:p>
        </p:txBody>
      </p:sp>
      <p:sp>
        <p:nvSpPr>
          <p:cNvPr id="23" name="Shape 21"/>
          <p:cNvSpPr/>
          <p:nvPr/>
        </p:nvSpPr>
        <p:spPr>
          <a:xfrm>
            <a:off x="548640" y="6355080"/>
            <a:ext cx="11091672" cy="0"/>
          </a:xfrm>
          <a:prstGeom prst="line">
            <a:avLst/>
          </a:prstGeom>
          <a:noFill/>
          <a:ln w="9525">
            <a:solidFill>
              <a:srgbClr val="D9D2C4"/>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rect">
            <a:avLst/>
          </a:prstGeom>
          <a:solidFill>
            <a:srgbClr val="C6552B"/>
          </a:solidFill>
          <a:ln/>
        </p:spPr>
      </p:sp>
      <p:sp>
        <p:nvSpPr>
          <p:cNvPr id="3" name="Text 1"/>
          <p:cNvSpPr txBox="1"/>
          <p:nvPr/>
        </p:nvSpPr>
        <p:spPr>
          <a:xfrm>
            <a:off x="786384" y="457200"/>
            <a:ext cx="7315200" cy="320040"/>
          </a:xfrm>
          <a:prstGeom prst="rect">
            <a:avLst/>
          </a:prstGeom>
          <a:noFill/>
          <a:ln/>
        </p:spPr>
        <p:txBody>
          <a:bodyPr wrap="square" lIns="0" tIns="0" rIns="0" bIns="0" rtlCol="0" anchor="ctr"/>
          <a:lstStyle/>
          <a:p>
            <a:pPr indent="0" marL="0">
              <a:buNone/>
            </a:pPr>
            <a:r>
              <a:rPr lang="en-US" sz="1250" b="1" spc="220" kern="0" dirty="0">
                <a:solidFill>
                  <a:srgbClr val="C6552B"/>
                </a:solidFill>
                <a:latin typeface="Lato" pitchFamily="34" charset="0"/>
                <a:ea typeface="Lato" pitchFamily="34" charset="-122"/>
                <a:cs typeface="Lato" pitchFamily="34" charset="-120"/>
              </a:rPr>
              <a:t>RELATED WORK</a:t>
            </a:r>
            <a:endParaRPr lang="en-US" sz="1250" dirty="0"/>
          </a:p>
        </p:txBody>
      </p:sp>
      <p:sp>
        <p:nvSpPr>
          <p:cNvPr id="4" name="Text 2"/>
          <p:cNvSpPr txBox="1"/>
          <p:nvPr/>
        </p:nvSpPr>
        <p:spPr>
          <a:xfrm>
            <a:off x="530352" y="804672"/>
            <a:ext cx="9601200" cy="777240"/>
          </a:xfrm>
          <a:prstGeom prst="rect">
            <a:avLst/>
          </a:prstGeom>
          <a:noFill/>
          <a:ln/>
        </p:spPr>
        <p:txBody>
          <a:bodyPr wrap="square" lIns="0" tIns="0" rIns="0" bIns="0" rtlCol="0" anchor="ctr"/>
          <a:lstStyle/>
          <a:p>
            <a:pPr indent="0" marL="0">
              <a:buNone/>
            </a:pPr>
            <a:r>
              <a:rPr lang="en-US" sz="3300" dirty="0">
                <a:solidFill>
                  <a:srgbClr val="1D2422"/>
                </a:solidFill>
                <a:latin typeface="Playfair Display" pitchFamily="34" charset="0"/>
                <a:ea typeface="Playfair Display" pitchFamily="34" charset="-122"/>
                <a:cs typeface="Playfair Display" pitchFamily="34" charset="-120"/>
              </a:rPr>
              <a:t>Literature Survey</a:t>
            </a:r>
            <a:endParaRPr lang="en-US" sz="3300" dirty="0"/>
          </a:p>
        </p:txBody>
      </p:sp>
      <p:sp>
        <p:nvSpPr>
          <p:cNvPr id="5" name="Text 3"/>
          <p:cNvSpPr txBox="1"/>
          <p:nvPr/>
        </p:nvSpPr>
        <p:spPr>
          <a:xfrm>
            <a:off x="10607040" y="502920"/>
            <a:ext cx="1005840" cy="640080"/>
          </a:xfrm>
          <a:prstGeom prst="rect">
            <a:avLst/>
          </a:prstGeom>
          <a:noFill/>
          <a:ln/>
        </p:spPr>
        <p:txBody>
          <a:bodyPr wrap="square" lIns="0" tIns="0" rIns="0" bIns="0" rtlCol="0" anchor="ctr"/>
          <a:lstStyle/>
          <a:p>
            <a:pPr algn="r" indent="0" marL="0">
              <a:buNone/>
            </a:pPr>
            <a:r>
              <a:rPr lang="en-US" sz="2800" i="1" dirty="0">
                <a:solidFill>
                  <a:srgbClr val="D9D2C4"/>
                </a:solidFill>
                <a:latin typeface="Playfair Display" pitchFamily="34" charset="0"/>
                <a:ea typeface="Playfair Display" pitchFamily="34" charset="-122"/>
                <a:cs typeface="Playfair Display" pitchFamily="34" charset="-120"/>
              </a:rPr>
              <a:t>04</a:t>
            </a:r>
            <a:endParaRPr lang="en-US" sz="2800" dirty="0"/>
          </a:p>
        </p:txBody>
      </p:sp>
      <p:sp>
        <p:nvSpPr>
          <p:cNvPr id="6" name="Shape 4"/>
          <p:cNvSpPr/>
          <p:nvPr/>
        </p:nvSpPr>
        <p:spPr>
          <a:xfrm>
            <a:off x="548640" y="1783080"/>
            <a:ext cx="11109960" cy="0"/>
          </a:xfrm>
          <a:prstGeom prst="line">
            <a:avLst/>
          </a:prstGeom>
          <a:noFill/>
          <a:ln w="19050">
            <a:solidFill>
              <a:srgbClr val="0E3B36"/>
            </a:solidFill>
            <a:prstDash val="solid"/>
          </a:ln>
        </p:spPr>
      </p:sp>
      <p:sp>
        <p:nvSpPr>
          <p:cNvPr id="7" name="Text 5"/>
          <p:cNvSpPr txBox="1"/>
          <p:nvPr/>
        </p:nvSpPr>
        <p:spPr>
          <a:xfrm>
            <a:off x="1234440" y="1874520"/>
            <a:ext cx="3840480" cy="274320"/>
          </a:xfrm>
          <a:prstGeom prst="rect">
            <a:avLst/>
          </a:prstGeom>
          <a:noFill/>
          <a:ln/>
        </p:spPr>
        <p:txBody>
          <a:bodyPr wrap="square" lIns="0" tIns="0" rIns="0" bIns="0" rtlCol="0" anchor="ctr"/>
          <a:lstStyle/>
          <a:p>
            <a:pPr indent="0" marL="0">
              <a:buNone/>
            </a:pPr>
            <a:r>
              <a:rPr lang="en-US" sz="1050" b="1" spc="120" kern="0" dirty="0">
                <a:solidFill>
                  <a:srgbClr val="0E3B36"/>
                </a:solidFill>
                <a:latin typeface="Lato" pitchFamily="34" charset="0"/>
                <a:ea typeface="Lato" pitchFamily="34" charset="-122"/>
                <a:cs typeface="Lato" pitchFamily="34" charset="-120"/>
              </a:rPr>
              <a:t>APPROACH</a:t>
            </a:r>
            <a:endParaRPr lang="en-US" sz="1050" dirty="0"/>
          </a:p>
        </p:txBody>
      </p:sp>
      <p:sp>
        <p:nvSpPr>
          <p:cNvPr id="8" name="Text 6"/>
          <p:cNvSpPr txBox="1"/>
          <p:nvPr/>
        </p:nvSpPr>
        <p:spPr>
          <a:xfrm>
            <a:off x="5212080" y="1874520"/>
            <a:ext cx="3108960" cy="274320"/>
          </a:xfrm>
          <a:prstGeom prst="rect">
            <a:avLst/>
          </a:prstGeom>
          <a:noFill/>
          <a:ln/>
        </p:spPr>
        <p:txBody>
          <a:bodyPr wrap="square" lIns="0" tIns="0" rIns="0" bIns="0" rtlCol="0" anchor="ctr"/>
          <a:lstStyle/>
          <a:p>
            <a:pPr indent="0" marL="0">
              <a:buNone/>
            </a:pPr>
            <a:r>
              <a:rPr lang="en-US" sz="1050" b="1" spc="120" kern="0" dirty="0">
                <a:solidFill>
                  <a:srgbClr val="0E3B36"/>
                </a:solidFill>
                <a:latin typeface="Lato" pitchFamily="34" charset="0"/>
                <a:ea typeface="Lato" pitchFamily="34" charset="-122"/>
                <a:cs typeface="Lato" pitchFamily="34" charset="-120"/>
              </a:rPr>
              <a:t>METHOD USED</a:t>
            </a:r>
            <a:endParaRPr lang="en-US" sz="1050" dirty="0"/>
          </a:p>
        </p:txBody>
      </p:sp>
      <p:sp>
        <p:nvSpPr>
          <p:cNvPr id="9" name="Text 7"/>
          <p:cNvSpPr txBox="1"/>
          <p:nvPr/>
        </p:nvSpPr>
        <p:spPr>
          <a:xfrm>
            <a:off x="8595360" y="1874520"/>
            <a:ext cx="2926080" cy="274320"/>
          </a:xfrm>
          <a:prstGeom prst="rect">
            <a:avLst/>
          </a:prstGeom>
          <a:noFill/>
          <a:ln/>
        </p:spPr>
        <p:txBody>
          <a:bodyPr wrap="square" lIns="0" tIns="0" rIns="0" bIns="0" rtlCol="0" anchor="ctr"/>
          <a:lstStyle/>
          <a:p>
            <a:pPr indent="0" marL="0">
              <a:buNone/>
            </a:pPr>
            <a:r>
              <a:rPr lang="en-US" sz="1050" b="1" spc="120" kern="0" dirty="0">
                <a:solidFill>
                  <a:srgbClr val="0E3B36"/>
                </a:solidFill>
                <a:latin typeface="Lato" pitchFamily="34" charset="0"/>
                <a:ea typeface="Lato" pitchFamily="34" charset="-122"/>
                <a:cs typeface="Lato" pitchFamily="34" charset="-120"/>
              </a:rPr>
              <a:t>LIMITATION / GAP</a:t>
            </a:r>
            <a:endParaRPr lang="en-US" sz="1050" dirty="0"/>
          </a:p>
        </p:txBody>
      </p:sp>
      <p:sp>
        <p:nvSpPr>
          <p:cNvPr id="10" name="Shape 8"/>
          <p:cNvSpPr/>
          <p:nvPr/>
        </p:nvSpPr>
        <p:spPr>
          <a:xfrm>
            <a:off x="548640" y="2331720"/>
            <a:ext cx="11109960" cy="0"/>
          </a:xfrm>
          <a:prstGeom prst="line">
            <a:avLst/>
          </a:prstGeom>
          <a:noFill/>
          <a:ln w="9525">
            <a:solidFill>
              <a:srgbClr val="D9D2C4"/>
            </a:solidFill>
            <a:prstDash val="solid"/>
          </a:ln>
        </p:spPr>
      </p:sp>
      <p:sp>
        <p:nvSpPr>
          <p:cNvPr id="11" name="Text 9"/>
          <p:cNvSpPr txBox="1"/>
          <p:nvPr/>
        </p:nvSpPr>
        <p:spPr>
          <a:xfrm>
            <a:off x="548640" y="2459736"/>
            <a:ext cx="640080" cy="804672"/>
          </a:xfrm>
          <a:prstGeom prst="rect">
            <a:avLst/>
          </a:prstGeom>
          <a:noFill/>
          <a:ln/>
        </p:spPr>
        <p:txBody>
          <a:bodyPr wrap="square" lIns="0" tIns="0" rIns="0" bIns="0" rtlCol="0" anchor="t"/>
          <a:lstStyle/>
          <a:p>
            <a:pPr indent="0" marL="0">
              <a:buNone/>
            </a:pPr>
            <a:r>
              <a:rPr lang="en-US" sz="1800" i="1" dirty="0">
                <a:solidFill>
                  <a:srgbClr val="D9D2C4"/>
                </a:solidFill>
                <a:latin typeface="Playfair Display" pitchFamily="34" charset="0"/>
                <a:ea typeface="Playfair Display" pitchFamily="34" charset="-122"/>
                <a:cs typeface="Playfair Display" pitchFamily="34" charset="-120"/>
              </a:rPr>
              <a:t>01</a:t>
            </a:r>
            <a:endParaRPr lang="en-US" sz="1800" dirty="0"/>
          </a:p>
        </p:txBody>
      </p:sp>
      <p:sp>
        <p:nvSpPr>
          <p:cNvPr id="12" name="Text 10"/>
          <p:cNvSpPr txBox="1"/>
          <p:nvPr/>
        </p:nvSpPr>
        <p:spPr>
          <a:xfrm>
            <a:off x="1234440" y="2459736"/>
            <a:ext cx="3794760" cy="804672"/>
          </a:xfrm>
          <a:prstGeom prst="rect">
            <a:avLst/>
          </a:prstGeom>
          <a:noFill/>
          <a:ln/>
        </p:spPr>
        <p:txBody>
          <a:bodyPr wrap="square" lIns="0" tIns="0" rIns="0" bIns="0" rtlCol="0" anchor="t"/>
          <a:lstStyle/>
          <a:p>
            <a:pPr indent="0" marL="0">
              <a:lnSpc>
                <a:spcPct val="115000"/>
              </a:lnSpc>
              <a:buNone/>
            </a:pPr>
            <a:r>
              <a:rPr lang="en-US" sz="1200" b="1" dirty="0">
                <a:solidFill>
                  <a:srgbClr val="1D2422"/>
                </a:solidFill>
                <a:latin typeface="Lato" pitchFamily="34" charset="0"/>
                <a:ea typeface="Lato" pitchFamily="34" charset="-122"/>
                <a:cs typeface="Lato" pitchFamily="34" charset="-120"/>
              </a:rPr>
              <a:t>Traditional / basic recommendation approaches (general)</a:t>
            </a:r>
            <a:endParaRPr lang="en-US" sz="1200" dirty="0"/>
          </a:p>
        </p:txBody>
      </p:sp>
      <p:sp>
        <p:nvSpPr>
          <p:cNvPr id="13" name="Text 11"/>
          <p:cNvSpPr txBox="1"/>
          <p:nvPr/>
        </p:nvSpPr>
        <p:spPr>
          <a:xfrm>
            <a:off x="5212080" y="2459736"/>
            <a:ext cx="3063240" cy="804672"/>
          </a:xfrm>
          <a:prstGeom prst="rect">
            <a:avLst/>
          </a:prstGeom>
          <a:noFill/>
          <a:ln/>
        </p:spPr>
        <p:txBody>
          <a:bodyPr wrap="square" lIns="0" tIns="0" rIns="0" bIns="0" rtlCol="0" anchor="t"/>
          <a:lstStyle/>
          <a:p>
            <a:pPr indent="0" marL="0">
              <a:lnSpc>
                <a:spcPct val="115000"/>
              </a:lnSpc>
              <a:buNone/>
            </a:pPr>
            <a:r>
              <a:rPr lang="en-US" sz="1150" dirty="0">
                <a:solidFill>
                  <a:srgbClr val="5B6560"/>
                </a:solidFill>
                <a:latin typeface="Lato" pitchFamily="34" charset="0"/>
                <a:ea typeface="Lato" pitchFamily="34" charset="-122"/>
                <a:cs typeface="Lato" pitchFamily="34" charset="-120"/>
              </a:rPr>
              <a:t>Simple rule-based or popularity/frequency-based suggestions</a:t>
            </a:r>
            <a:endParaRPr lang="en-US" sz="1150" dirty="0"/>
          </a:p>
        </p:txBody>
      </p:sp>
      <p:sp>
        <p:nvSpPr>
          <p:cNvPr id="14" name="Text 12"/>
          <p:cNvSpPr txBox="1"/>
          <p:nvPr/>
        </p:nvSpPr>
        <p:spPr>
          <a:xfrm>
            <a:off x="8595360" y="2459736"/>
            <a:ext cx="2880360" cy="804672"/>
          </a:xfrm>
          <a:prstGeom prst="rect">
            <a:avLst/>
          </a:prstGeom>
          <a:noFill/>
          <a:ln/>
        </p:spPr>
        <p:txBody>
          <a:bodyPr wrap="square" lIns="0" tIns="0" rIns="0" bIns="0" rtlCol="0" anchor="t"/>
          <a:lstStyle/>
          <a:p>
            <a:pPr indent="0" marL="0">
              <a:lnSpc>
                <a:spcPct val="115000"/>
              </a:lnSpc>
              <a:buNone/>
            </a:pPr>
            <a:r>
              <a:rPr lang="en-US" sz="1150" i="1" dirty="0">
                <a:solidFill>
                  <a:srgbClr val="C6552B"/>
                </a:solidFill>
                <a:latin typeface="Lato" pitchFamily="34" charset="0"/>
                <a:ea typeface="Lato" pitchFamily="34" charset="-122"/>
                <a:cs typeface="Lato" pitchFamily="34" charset="-120"/>
              </a:rPr>
              <a:t>Not personalized; ignores individual preferences and interaction history</a:t>
            </a:r>
            <a:endParaRPr lang="en-US" sz="1150" dirty="0"/>
          </a:p>
        </p:txBody>
      </p:sp>
      <p:sp>
        <p:nvSpPr>
          <p:cNvPr id="15" name="Shape 13"/>
          <p:cNvSpPr/>
          <p:nvPr/>
        </p:nvSpPr>
        <p:spPr>
          <a:xfrm>
            <a:off x="548640" y="3319272"/>
            <a:ext cx="11109960" cy="0"/>
          </a:xfrm>
          <a:prstGeom prst="line">
            <a:avLst/>
          </a:prstGeom>
          <a:noFill/>
          <a:ln w="9525">
            <a:solidFill>
              <a:srgbClr val="D9D2C4"/>
            </a:solidFill>
            <a:prstDash val="solid"/>
          </a:ln>
        </p:spPr>
      </p:sp>
      <p:sp>
        <p:nvSpPr>
          <p:cNvPr id="16" name="Text 14"/>
          <p:cNvSpPr txBox="1"/>
          <p:nvPr/>
        </p:nvSpPr>
        <p:spPr>
          <a:xfrm>
            <a:off x="548640" y="3447288"/>
            <a:ext cx="640080" cy="804672"/>
          </a:xfrm>
          <a:prstGeom prst="rect">
            <a:avLst/>
          </a:prstGeom>
          <a:noFill/>
          <a:ln/>
        </p:spPr>
        <p:txBody>
          <a:bodyPr wrap="square" lIns="0" tIns="0" rIns="0" bIns="0" rtlCol="0" anchor="t"/>
          <a:lstStyle/>
          <a:p>
            <a:pPr indent="0" marL="0">
              <a:buNone/>
            </a:pPr>
            <a:r>
              <a:rPr lang="en-US" sz="1800" i="1" dirty="0">
                <a:solidFill>
                  <a:srgbClr val="D9D2C4"/>
                </a:solidFill>
                <a:latin typeface="Playfair Display" pitchFamily="34" charset="0"/>
                <a:ea typeface="Playfair Display" pitchFamily="34" charset="-122"/>
                <a:cs typeface="Playfair Display" pitchFamily="34" charset="-120"/>
              </a:rPr>
              <a:t>02</a:t>
            </a:r>
            <a:endParaRPr lang="en-US" sz="1800" dirty="0"/>
          </a:p>
        </p:txBody>
      </p:sp>
      <p:sp>
        <p:nvSpPr>
          <p:cNvPr id="17" name="Text 15"/>
          <p:cNvSpPr txBox="1"/>
          <p:nvPr/>
        </p:nvSpPr>
        <p:spPr>
          <a:xfrm>
            <a:off x="1234440" y="3447288"/>
            <a:ext cx="3794760" cy="804672"/>
          </a:xfrm>
          <a:prstGeom prst="rect">
            <a:avLst/>
          </a:prstGeom>
          <a:noFill/>
          <a:ln/>
        </p:spPr>
        <p:txBody>
          <a:bodyPr wrap="square" lIns="0" tIns="0" rIns="0" bIns="0" rtlCol="0" anchor="t"/>
          <a:lstStyle/>
          <a:p>
            <a:pPr indent="0" marL="0">
              <a:lnSpc>
                <a:spcPct val="115000"/>
              </a:lnSpc>
              <a:buNone/>
            </a:pPr>
            <a:r>
              <a:rPr lang="en-US" sz="1200" b="1" dirty="0">
                <a:solidFill>
                  <a:srgbClr val="1D2422"/>
                </a:solidFill>
                <a:latin typeface="Lato" pitchFamily="34" charset="0"/>
                <a:ea typeface="Lato" pitchFamily="34" charset="-122"/>
                <a:cs typeface="Lato" pitchFamily="34" charset="-120"/>
              </a:rPr>
              <a:t>Content-based recommendation (general approach)</a:t>
            </a:r>
            <a:endParaRPr lang="en-US" sz="1200" dirty="0"/>
          </a:p>
        </p:txBody>
      </p:sp>
      <p:sp>
        <p:nvSpPr>
          <p:cNvPr id="18" name="Text 16"/>
          <p:cNvSpPr txBox="1"/>
          <p:nvPr/>
        </p:nvSpPr>
        <p:spPr>
          <a:xfrm>
            <a:off x="5212080" y="3447288"/>
            <a:ext cx="3063240" cy="804672"/>
          </a:xfrm>
          <a:prstGeom prst="rect">
            <a:avLst/>
          </a:prstGeom>
          <a:noFill/>
          <a:ln/>
        </p:spPr>
        <p:txBody>
          <a:bodyPr wrap="square" lIns="0" tIns="0" rIns="0" bIns="0" rtlCol="0" anchor="t"/>
          <a:lstStyle/>
          <a:p>
            <a:pPr indent="0" marL="0">
              <a:lnSpc>
                <a:spcPct val="115000"/>
              </a:lnSpc>
              <a:buNone/>
            </a:pPr>
            <a:r>
              <a:rPr lang="en-US" sz="1150" dirty="0">
                <a:solidFill>
                  <a:srgbClr val="5B6560"/>
                </a:solidFill>
                <a:latin typeface="Lato" pitchFamily="34" charset="0"/>
                <a:ea typeface="Lato" pitchFamily="34" charset="-122"/>
                <a:cs typeface="Lato" pitchFamily="34" charset="-120"/>
              </a:rPr>
              <a:t>Matches item attributes/features to a user's known preferences</a:t>
            </a:r>
            <a:endParaRPr lang="en-US" sz="1150" dirty="0"/>
          </a:p>
        </p:txBody>
      </p:sp>
      <p:sp>
        <p:nvSpPr>
          <p:cNvPr id="19" name="Text 17"/>
          <p:cNvSpPr txBox="1"/>
          <p:nvPr/>
        </p:nvSpPr>
        <p:spPr>
          <a:xfrm>
            <a:off x="8595360" y="3447288"/>
            <a:ext cx="2880360" cy="804672"/>
          </a:xfrm>
          <a:prstGeom prst="rect">
            <a:avLst/>
          </a:prstGeom>
          <a:noFill/>
          <a:ln/>
        </p:spPr>
        <p:txBody>
          <a:bodyPr wrap="square" lIns="0" tIns="0" rIns="0" bIns="0" rtlCol="0" anchor="t"/>
          <a:lstStyle/>
          <a:p>
            <a:pPr indent="0" marL="0">
              <a:lnSpc>
                <a:spcPct val="115000"/>
              </a:lnSpc>
              <a:buNone/>
            </a:pPr>
            <a:r>
              <a:rPr lang="en-US" sz="1150" i="1" dirty="0">
                <a:solidFill>
                  <a:srgbClr val="C6552B"/>
                </a:solidFill>
                <a:latin typeface="Lato" pitchFamily="34" charset="0"/>
                <a:ea typeface="Lato" pitchFamily="34" charset="-122"/>
                <a:cs typeface="Lato" pitchFamily="34" charset="-120"/>
              </a:rPr>
              <a:t>Limited diversity; struggles when preference data is sparse</a:t>
            </a:r>
            <a:endParaRPr lang="en-US" sz="1150" dirty="0"/>
          </a:p>
        </p:txBody>
      </p:sp>
      <p:sp>
        <p:nvSpPr>
          <p:cNvPr id="20" name="Shape 18"/>
          <p:cNvSpPr/>
          <p:nvPr/>
        </p:nvSpPr>
        <p:spPr>
          <a:xfrm>
            <a:off x="548640" y="4306824"/>
            <a:ext cx="11109960" cy="0"/>
          </a:xfrm>
          <a:prstGeom prst="line">
            <a:avLst/>
          </a:prstGeom>
          <a:noFill/>
          <a:ln w="9525">
            <a:solidFill>
              <a:srgbClr val="D9D2C4"/>
            </a:solidFill>
            <a:prstDash val="solid"/>
          </a:ln>
        </p:spPr>
      </p:sp>
      <p:sp>
        <p:nvSpPr>
          <p:cNvPr id="21" name="Text 19"/>
          <p:cNvSpPr txBox="1"/>
          <p:nvPr/>
        </p:nvSpPr>
        <p:spPr>
          <a:xfrm>
            <a:off x="548640" y="4434840"/>
            <a:ext cx="640080" cy="804672"/>
          </a:xfrm>
          <a:prstGeom prst="rect">
            <a:avLst/>
          </a:prstGeom>
          <a:noFill/>
          <a:ln/>
        </p:spPr>
        <p:txBody>
          <a:bodyPr wrap="square" lIns="0" tIns="0" rIns="0" bIns="0" rtlCol="0" anchor="t"/>
          <a:lstStyle/>
          <a:p>
            <a:pPr indent="0" marL="0">
              <a:buNone/>
            </a:pPr>
            <a:r>
              <a:rPr lang="en-US" sz="1800" i="1" dirty="0">
                <a:solidFill>
                  <a:srgbClr val="D9D2C4"/>
                </a:solidFill>
                <a:latin typeface="Playfair Display" pitchFamily="34" charset="0"/>
                <a:ea typeface="Playfair Display" pitchFamily="34" charset="-122"/>
                <a:cs typeface="Playfair Display" pitchFamily="34" charset="-120"/>
              </a:rPr>
              <a:t>03</a:t>
            </a:r>
            <a:endParaRPr lang="en-US" sz="1800" dirty="0"/>
          </a:p>
        </p:txBody>
      </p:sp>
      <p:sp>
        <p:nvSpPr>
          <p:cNvPr id="22" name="Text 20"/>
          <p:cNvSpPr txBox="1"/>
          <p:nvPr/>
        </p:nvSpPr>
        <p:spPr>
          <a:xfrm>
            <a:off x="1234440" y="4434840"/>
            <a:ext cx="3794760" cy="804672"/>
          </a:xfrm>
          <a:prstGeom prst="rect">
            <a:avLst/>
          </a:prstGeom>
          <a:noFill/>
          <a:ln/>
        </p:spPr>
        <p:txBody>
          <a:bodyPr wrap="square" lIns="0" tIns="0" rIns="0" bIns="0" rtlCol="0" anchor="t"/>
          <a:lstStyle/>
          <a:p>
            <a:pPr indent="0" marL="0">
              <a:lnSpc>
                <a:spcPct val="115000"/>
              </a:lnSpc>
              <a:buNone/>
            </a:pPr>
            <a:r>
              <a:rPr lang="en-US" sz="1200" b="1" dirty="0">
                <a:solidFill>
                  <a:srgbClr val="1D2422"/>
                </a:solidFill>
                <a:latin typeface="Lato" pitchFamily="34" charset="0"/>
                <a:ea typeface="Lato" pitchFamily="34" charset="-122"/>
                <a:cs typeface="Lato" pitchFamily="34" charset="-120"/>
              </a:rPr>
              <a:t>Collaborative filtering (general approach)</a:t>
            </a:r>
            <a:endParaRPr lang="en-US" sz="1200" dirty="0"/>
          </a:p>
        </p:txBody>
      </p:sp>
      <p:sp>
        <p:nvSpPr>
          <p:cNvPr id="23" name="Text 21"/>
          <p:cNvSpPr txBox="1"/>
          <p:nvPr/>
        </p:nvSpPr>
        <p:spPr>
          <a:xfrm>
            <a:off x="5212080" y="4434840"/>
            <a:ext cx="3063240" cy="804672"/>
          </a:xfrm>
          <a:prstGeom prst="rect">
            <a:avLst/>
          </a:prstGeom>
          <a:noFill/>
          <a:ln/>
        </p:spPr>
        <p:txBody>
          <a:bodyPr wrap="square" lIns="0" tIns="0" rIns="0" bIns="0" rtlCol="0" anchor="t"/>
          <a:lstStyle/>
          <a:p>
            <a:pPr indent="0" marL="0">
              <a:lnSpc>
                <a:spcPct val="115000"/>
              </a:lnSpc>
              <a:buNone/>
            </a:pPr>
            <a:r>
              <a:rPr lang="en-US" sz="1150" dirty="0">
                <a:solidFill>
                  <a:srgbClr val="5B6560"/>
                </a:solidFill>
                <a:latin typeface="Lato" pitchFamily="34" charset="0"/>
                <a:ea typeface="Lato" pitchFamily="34" charset="-122"/>
                <a:cs typeface="Lato" pitchFamily="34" charset="-120"/>
              </a:rPr>
              <a:t>Uses similarity between users or items based on past interactions</a:t>
            </a:r>
            <a:endParaRPr lang="en-US" sz="1150" dirty="0"/>
          </a:p>
        </p:txBody>
      </p:sp>
      <p:sp>
        <p:nvSpPr>
          <p:cNvPr id="24" name="Text 22"/>
          <p:cNvSpPr txBox="1"/>
          <p:nvPr/>
        </p:nvSpPr>
        <p:spPr>
          <a:xfrm>
            <a:off x="8595360" y="4434840"/>
            <a:ext cx="2880360" cy="804672"/>
          </a:xfrm>
          <a:prstGeom prst="rect">
            <a:avLst/>
          </a:prstGeom>
          <a:noFill/>
          <a:ln/>
        </p:spPr>
        <p:txBody>
          <a:bodyPr wrap="square" lIns="0" tIns="0" rIns="0" bIns="0" rtlCol="0" anchor="t"/>
          <a:lstStyle/>
          <a:p>
            <a:pPr indent="0" marL="0">
              <a:lnSpc>
                <a:spcPct val="115000"/>
              </a:lnSpc>
              <a:buNone/>
            </a:pPr>
            <a:r>
              <a:rPr lang="en-US" sz="1150" i="1" dirty="0">
                <a:solidFill>
                  <a:srgbClr val="C6552B"/>
                </a:solidFill>
                <a:latin typeface="Lato" pitchFamily="34" charset="0"/>
                <a:ea typeface="Lato" pitchFamily="34" charset="-122"/>
                <a:cs typeface="Lato" pitchFamily="34" charset="-120"/>
              </a:rPr>
              <a:t>Cold-start problem for new users or items; scalability concerns</a:t>
            </a:r>
            <a:endParaRPr lang="en-US" sz="1150" dirty="0"/>
          </a:p>
        </p:txBody>
      </p:sp>
      <p:sp>
        <p:nvSpPr>
          <p:cNvPr id="25" name="Shape 23"/>
          <p:cNvSpPr/>
          <p:nvPr/>
        </p:nvSpPr>
        <p:spPr>
          <a:xfrm>
            <a:off x="548640" y="5294376"/>
            <a:ext cx="11109960" cy="0"/>
          </a:xfrm>
          <a:prstGeom prst="line">
            <a:avLst/>
          </a:prstGeom>
          <a:noFill/>
          <a:ln w="9525">
            <a:solidFill>
              <a:srgbClr val="D9D2C4"/>
            </a:solidFill>
            <a:prstDash val="solid"/>
          </a:ln>
        </p:spPr>
      </p:sp>
      <p:sp>
        <p:nvSpPr>
          <p:cNvPr id="26" name="Text 24"/>
          <p:cNvSpPr txBox="1"/>
          <p:nvPr/>
        </p:nvSpPr>
        <p:spPr>
          <a:xfrm>
            <a:off x="548640" y="5422392"/>
            <a:ext cx="640080" cy="804672"/>
          </a:xfrm>
          <a:prstGeom prst="rect">
            <a:avLst/>
          </a:prstGeom>
          <a:noFill/>
          <a:ln/>
        </p:spPr>
        <p:txBody>
          <a:bodyPr wrap="square" lIns="0" tIns="0" rIns="0" bIns="0" rtlCol="0" anchor="t"/>
          <a:lstStyle/>
          <a:p>
            <a:pPr indent="0" marL="0">
              <a:buNone/>
            </a:pPr>
            <a:r>
              <a:rPr lang="en-US" sz="1800" i="1" dirty="0">
                <a:solidFill>
                  <a:srgbClr val="D9D2C4"/>
                </a:solidFill>
                <a:latin typeface="Playfair Display" pitchFamily="34" charset="0"/>
                <a:ea typeface="Playfair Display" pitchFamily="34" charset="-122"/>
                <a:cs typeface="Playfair Display" pitchFamily="34" charset="-120"/>
              </a:rPr>
              <a:t>04</a:t>
            </a:r>
            <a:endParaRPr lang="en-US" sz="1800" dirty="0"/>
          </a:p>
        </p:txBody>
      </p:sp>
      <p:sp>
        <p:nvSpPr>
          <p:cNvPr id="27" name="Text 25"/>
          <p:cNvSpPr txBox="1"/>
          <p:nvPr/>
        </p:nvSpPr>
        <p:spPr>
          <a:xfrm>
            <a:off x="1234440" y="5422392"/>
            <a:ext cx="3794760" cy="804672"/>
          </a:xfrm>
          <a:prstGeom prst="rect">
            <a:avLst/>
          </a:prstGeom>
          <a:noFill/>
          <a:ln/>
        </p:spPr>
        <p:txBody>
          <a:bodyPr wrap="square" lIns="0" tIns="0" rIns="0" bIns="0" rtlCol="0" anchor="t"/>
          <a:lstStyle/>
          <a:p>
            <a:pPr indent="0" marL="0">
              <a:lnSpc>
                <a:spcPct val="115000"/>
              </a:lnSpc>
              <a:buNone/>
            </a:pPr>
            <a:r>
              <a:rPr lang="en-US" sz="1200" b="1" dirty="0">
                <a:solidFill>
                  <a:srgbClr val="1D2422"/>
                </a:solidFill>
                <a:latin typeface="Lato" pitchFamily="34" charset="0"/>
                <a:ea typeface="Lato" pitchFamily="34" charset="-122"/>
                <a:cs typeface="Lato" pitchFamily="34" charset="-120"/>
              </a:rPr>
              <a:t>DSA-based ranking approaches (general approach)</a:t>
            </a:r>
            <a:endParaRPr lang="en-US" sz="1200" dirty="0"/>
          </a:p>
        </p:txBody>
      </p:sp>
      <p:sp>
        <p:nvSpPr>
          <p:cNvPr id="28" name="Text 26"/>
          <p:cNvSpPr txBox="1"/>
          <p:nvPr/>
        </p:nvSpPr>
        <p:spPr>
          <a:xfrm>
            <a:off x="5212080" y="5422392"/>
            <a:ext cx="3063240" cy="804672"/>
          </a:xfrm>
          <a:prstGeom prst="rect">
            <a:avLst/>
          </a:prstGeom>
          <a:noFill/>
          <a:ln/>
        </p:spPr>
        <p:txBody>
          <a:bodyPr wrap="square" lIns="0" tIns="0" rIns="0" bIns="0" rtlCol="0" anchor="t"/>
          <a:lstStyle/>
          <a:p>
            <a:pPr indent="0" marL="0">
              <a:lnSpc>
                <a:spcPct val="115000"/>
              </a:lnSpc>
              <a:buNone/>
            </a:pPr>
            <a:r>
              <a:rPr lang="en-US" sz="1150" dirty="0">
                <a:solidFill>
                  <a:srgbClr val="5B6560"/>
                </a:solidFill>
                <a:latin typeface="Lato" pitchFamily="34" charset="0"/>
                <a:ea typeface="Lato" pitchFamily="34" charset="-122"/>
                <a:cs typeface="Lato" pitchFamily="34" charset="-120"/>
              </a:rPr>
              <a:t>Graphs, hashing, sorting and heaps used to organize and rank items</a:t>
            </a:r>
            <a:endParaRPr lang="en-US" sz="1150" dirty="0"/>
          </a:p>
        </p:txBody>
      </p:sp>
      <p:sp>
        <p:nvSpPr>
          <p:cNvPr id="29" name="Text 27"/>
          <p:cNvSpPr txBox="1"/>
          <p:nvPr/>
        </p:nvSpPr>
        <p:spPr>
          <a:xfrm>
            <a:off x="8595360" y="5422392"/>
            <a:ext cx="2880360" cy="804672"/>
          </a:xfrm>
          <a:prstGeom prst="rect">
            <a:avLst/>
          </a:prstGeom>
          <a:noFill/>
          <a:ln/>
        </p:spPr>
        <p:txBody>
          <a:bodyPr wrap="square" lIns="0" tIns="0" rIns="0" bIns="0" rtlCol="0" anchor="t"/>
          <a:lstStyle/>
          <a:p>
            <a:pPr indent="0" marL="0">
              <a:lnSpc>
                <a:spcPct val="115000"/>
              </a:lnSpc>
              <a:buNone/>
            </a:pPr>
            <a:r>
              <a:rPr lang="en-US" sz="1150" i="1" dirty="0">
                <a:solidFill>
                  <a:srgbClr val="C6552B"/>
                </a:solidFill>
                <a:latin typeface="Lato" pitchFamily="34" charset="0"/>
                <a:ea typeface="Lato" pitchFamily="34" charset="-122"/>
                <a:cs typeface="Lato" pitchFamily="34" charset="-120"/>
              </a:rPr>
              <a:t>Requires careful data-structure design for efficiency at scale</a:t>
            </a:r>
            <a:endParaRPr lang="en-US" sz="1150" dirty="0"/>
          </a:p>
        </p:txBody>
      </p:sp>
      <p:sp>
        <p:nvSpPr>
          <p:cNvPr id="30" name="Text 28"/>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spc="150" kern="0" dirty="0">
                <a:solidFill>
                  <a:srgbClr val="5B6560"/>
                </a:solidFill>
                <a:latin typeface="Lato" pitchFamily="34" charset="0"/>
                <a:ea typeface="Lato" pitchFamily="34" charset="-122"/>
                <a:cs typeface="Lato" pitchFamily="34" charset="-120"/>
              </a:rPr>
              <a:t>RECOMMENDATION ENGINE</a:t>
            </a:r>
            <a:endParaRPr lang="en-US" sz="900" dirty="0"/>
          </a:p>
        </p:txBody>
      </p:sp>
      <p:sp>
        <p:nvSpPr>
          <p:cNvPr id="31" name="Text 29"/>
          <p:cNvSpPr txBox="1"/>
          <p:nvPr/>
        </p:nvSpPr>
        <p:spPr>
          <a:xfrm>
            <a:off x="11183112" y="6473952"/>
            <a:ext cx="548640" cy="274320"/>
          </a:xfrm>
          <a:prstGeom prst="rect">
            <a:avLst/>
          </a:prstGeom>
          <a:noFill/>
          <a:ln/>
        </p:spPr>
        <p:txBody>
          <a:bodyPr wrap="square" lIns="0" tIns="0" rIns="0" bIns="0" rtlCol="0" anchor="ctr"/>
          <a:lstStyle/>
          <a:p>
            <a:pPr algn="r" indent="0" marL="0">
              <a:buNone/>
            </a:pPr>
            <a:r>
              <a:rPr lang="en-US" sz="900" spc="100" kern="0" dirty="0">
                <a:solidFill>
                  <a:srgbClr val="5B6560"/>
                </a:solidFill>
                <a:latin typeface="Lato" pitchFamily="34" charset="0"/>
                <a:ea typeface="Lato" pitchFamily="34" charset="-122"/>
                <a:cs typeface="Lato" pitchFamily="34" charset="-120"/>
              </a:rPr>
              <a:t>04</a:t>
            </a:r>
            <a:endParaRPr lang="en-US" sz="900" dirty="0"/>
          </a:p>
        </p:txBody>
      </p:sp>
      <p:sp>
        <p:nvSpPr>
          <p:cNvPr id="32" name="Shape 30"/>
          <p:cNvSpPr/>
          <p:nvPr/>
        </p:nvSpPr>
        <p:spPr>
          <a:xfrm>
            <a:off x="548640" y="6355080"/>
            <a:ext cx="11091672" cy="0"/>
          </a:xfrm>
          <a:prstGeom prst="line">
            <a:avLst/>
          </a:prstGeom>
          <a:noFill/>
          <a:ln w="9525">
            <a:solidFill>
              <a:srgbClr val="D9D2C4"/>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rect">
            <a:avLst/>
          </a:prstGeom>
          <a:solidFill>
            <a:srgbClr val="C6552B"/>
          </a:solidFill>
          <a:ln/>
        </p:spPr>
      </p:sp>
      <p:sp>
        <p:nvSpPr>
          <p:cNvPr id="3" name="Text 1"/>
          <p:cNvSpPr txBox="1"/>
          <p:nvPr/>
        </p:nvSpPr>
        <p:spPr>
          <a:xfrm>
            <a:off x="786384" y="457200"/>
            <a:ext cx="7315200" cy="320040"/>
          </a:xfrm>
          <a:prstGeom prst="rect">
            <a:avLst/>
          </a:prstGeom>
          <a:noFill/>
          <a:ln/>
        </p:spPr>
        <p:txBody>
          <a:bodyPr wrap="square" lIns="0" tIns="0" rIns="0" bIns="0" rtlCol="0" anchor="ctr"/>
          <a:lstStyle/>
          <a:p>
            <a:pPr indent="0" marL="0">
              <a:buNone/>
            </a:pPr>
            <a:r>
              <a:rPr lang="en-US" sz="1250" b="1" spc="220" kern="0" dirty="0">
                <a:solidFill>
                  <a:srgbClr val="C6552B"/>
                </a:solidFill>
                <a:latin typeface="Lato" pitchFamily="34" charset="0"/>
                <a:ea typeface="Lato" pitchFamily="34" charset="-122"/>
                <a:cs typeface="Lato" pitchFamily="34" charset="-120"/>
              </a:rPr>
              <a:t>SYSTEM REQUIREMENTS</a:t>
            </a:r>
            <a:endParaRPr lang="en-US" sz="1250" dirty="0"/>
          </a:p>
        </p:txBody>
      </p:sp>
      <p:sp>
        <p:nvSpPr>
          <p:cNvPr id="4" name="Text 2"/>
          <p:cNvSpPr txBox="1"/>
          <p:nvPr/>
        </p:nvSpPr>
        <p:spPr>
          <a:xfrm>
            <a:off x="530352" y="804672"/>
            <a:ext cx="9601200" cy="777240"/>
          </a:xfrm>
          <a:prstGeom prst="rect">
            <a:avLst/>
          </a:prstGeom>
          <a:noFill/>
          <a:ln/>
        </p:spPr>
        <p:txBody>
          <a:bodyPr wrap="square" lIns="0" tIns="0" rIns="0" bIns="0" rtlCol="0" anchor="ctr"/>
          <a:lstStyle/>
          <a:p>
            <a:pPr indent="0" marL="0">
              <a:buNone/>
            </a:pPr>
            <a:r>
              <a:rPr lang="en-US" sz="3300" dirty="0">
                <a:solidFill>
                  <a:srgbClr val="1D2422"/>
                </a:solidFill>
                <a:latin typeface="Playfair Display" pitchFamily="34" charset="0"/>
                <a:ea typeface="Playfair Display" pitchFamily="34" charset="-122"/>
                <a:cs typeface="Playfair Display" pitchFamily="34" charset="-120"/>
              </a:rPr>
              <a:t>Software &amp; Hardware</a:t>
            </a:r>
            <a:endParaRPr lang="en-US" sz="3300" dirty="0"/>
          </a:p>
        </p:txBody>
      </p:sp>
      <p:sp>
        <p:nvSpPr>
          <p:cNvPr id="5" name="Text 3"/>
          <p:cNvSpPr txBox="1"/>
          <p:nvPr/>
        </p:nvSpPr>
        <p:spPr>
          <a:xfrm>
            <a:off x="10607040" y="502920"/>
            <a:ext cx="1005840" cy="640080"/>
          </a:xfrm>
          <a:prstGeom prst="rect">
            <a:avLst/>
          </a:prstGeom>
          <a:noFill/>
          <a:ln/>
        </p:spPr>
        <p:txBody>
          <a:bodyPr wrap="square" lIns="0" tIns="0" rIns="0" bIns="0" rtlCol="0" anchor="ctr"/>
          <a:lstStyle/>
          <a:p>
            <a:pPr algn="r" indent="0" marL="0">
              <a:buNone/>
            </a:pPr>
            <a:r>
              <a:rPr lang="en-US" sz="2800" i="1" dirty="0">
                <a:solidFill>
                  <a:srgbClr val="D9D2C4"/>
                </a:solidFill>
                <a:latin typeface="Playfair Display" pitchFamily="34" charset="0"/>
                <a:ea typeface="Playfair Display" pitchFamily="34" charset="-122"/>
                <a:cs typeface="Playfair Display" pitchFamily="34" charset="-120"/>
              </a:rPr>
              <a:t>05</a:t>
            </a:r>
            <a:endParaRPr lang="en-US" sz="2800" dirty="0"/>
          </a:p>
        </p:txBody>
      </p:sp>
      <p:sp>
        <p:nvSpPr>
          <p:cNvPr id="6" name="Shape 4"/>
          <p:cNvSpPr/>
          <p:nvPr/>
        </p:nvSpPr>
        <p:spPr>
          <a:xfrm>
            <a:off x="548640" y="1783080"/>
            <a:ext cx="5394960" cy="4434840"/>
          </a:xfrm>
          <a:prstGeom prst="rect">
            <a:avLst/>
          </a:prstGeom>
          <a:solidFill>
            <a:srgbClr val="0E3B36"/>
          </a:solidFill>
          <a:ln/>
        </p:spPr>
      </p:sp>
      <p:sp>
        <p:nvSpPr>
          <p:cNvPr id="7" name="Text 5"/>
          <p:cNvSpPr txBox="1"/>
          <p:nvPr/>
        </p:nvSpPr>
        <p:spPr>
          <a:xfrm>
            <a:off x="914400" y="2011680"/>
            <a:ext cx="4754880" cy="365760"/>
          </a:xfrm>
          <a:prstGeom prst="rect">
            <a:avLst/>
          </a:prstGeom>
          <a:noFill/>
          <a:ln/>
        </p:spPr>
        <p:txBody>
          <a:bodyPr wrap="square" lIns="0" tIns="0" rIns="0" bIns="0" rtlCol="0" anchor="ctr"/>
          <a:lstStyle/>
          <a:p>
            <a:pPr indent="0" marL="0">
              <a:buNone/>
            </a:pPr>
            <a:r>
              <a:rPr lang="en-US" sz="1300" b="1" spc="200" kern="0" dirty="0">
                <a:solidFill>
                  <a:srgbClr val="E8A96F"/>
                </a:solidFill>
                <a:latin typeface="Lato" pitchFamily="34" charset="0"/>
                <a:ea typeface="Lato" pitchFamily="34" charset="-122"/>
                <a:cs typeface="Lato" pitchFamily="34" charset="-120"/>
              </a:rPr>
              <a:t>SOFTWARE</a:t>
            </a:r>
            <a:endParaRPr lang="en-US" sz="1300" dirty="0"/>
          </a:p>
        </p:txBody>
      </p:sp>
      <p:sp>
        <p:nvSpPr>
          <p:cNvPr id="8" name="Text 6"/>
          <p:cNvSpPr txBox="1"/>
          <p:nvPr/>
        </p:nvSpPr>
        <p:spPr>
          <a:xfrm>
            <a:off x="914400" y="2606040"/>
            <a:ext cx="4663440" cy="274320"/>
          </a:xfrm>
          <a:prstGeom prst="rect">
            <a:avLst/>
          </a:prstGeom>
          <a:noFill/>
          <a:ln/>
        </p:spPr>
        <p:txBody>
          <a:bodyPr wrap="square" lIns="0" tIns="0" rIns="0" bIns="0" rtlCol="0" anchor="ctr"/>
          <a:lstStyle/>
          <a:p>
            <a:pPr indent="0" marL="0">
              <a:buNone/>
            </a:pPr>
            <a:r>
              <a:rPr lang="en-US" sz="1200" b="1" dirty="0">
                <a:solidFill>
                  <a:srgbClr val="CFE0DC"/>
                </a:solidFill>
                <a:latin typeface="Lato" pitchFamily="34" charset="0"/>
                <a:ea typeface="Lato" pitchFamily="34" charset="-122"/>
                <a:cs typeface="Lato" pitchFamily="34" charset="-120"/>
              </a:rPr>
              <a:t>Operating System</a:t>
            </a:r>
            <a:endParaRPr lang="en-US" sz="1200" dirty="0"/>
          </a:p>
        </p:txBody>
      </p:sp>
      <p:sp>
        <p:nvSpPr>
          <p:cNvPr id="9" name="Text 7"/>
          <p:cNvSpPr txBox="1"/>
          <p:nvPr/>
        </p:nvSpPr>
        <p:spPr>
          <a:xfrm>
            <a:off x="914400" y="2880360"/>
            <a:ext cx="4663440" cy="320040"/>
          </a:xfrm>
          <a:prstGeom prst="rect">
            <a:avLst/>
          </a:prstGeom>
          <a:noFill/>
          <a:ln/>
        </p:spPr>
        <p:txBody>
          <a:bodyPr wrap="square" lIns="0" tIns="0" rIns="0" bIns="0" rtlCol="0" anchor="ctr"/>
          <a:lstStyle/>
          <a:p>
            <a:pPr indent="0" marL="0">
              <a:buNone/>
            </a:pPr>
            <a:r>
              <a:rPr lang="en-US" sz="1200" dirty="0">
                <a:solidFill>
                  <a:srgbClr val="9DB8B2"/>
                </a:solidFill>
                <a:latin typeface="Lato" pitchFamily="34" charset="0"/>
                <a:ea typeface="Lato" pitchFamily="34" charset="-122"/>
                <a:cs typeface="Lato" pitchFamily="34" charset="-120"/>
              </a:rPr>
              <a:t>Windows 10/11 or Linux (Ubuntu 20.04+)</a:t>
            </a:r>
            <a:endParaRPr lang="en-US" sz="1200" dirty="0"/>
          </a:p>
        </p:txBody>
      </p:sp>
      <p:sp>
        <p:nvSpPr>
          <p:cNvPr id="10" name="Shape 8"/>
          <p:cNvSpPr/>
          <p:nvPr/>
        </p:nvSpPr>
        <p:spPr>
          <a:xfrm>
            <a:off x="914400" y="3218688"/>
            <a:ext cx="4663440" cy="0"/>
          </a:xfrm>
          <a:prstGeom prst="line">
            <a:avLst/>
          </a:prstGeom>
          <a:noFill/>
          <a:ln w="6350">
            <a:solidFill>
              <a:srgbClr val="2A5B54"/>
            </a:solidFill>
            <a:prstDash val="solid"/>
          </a:ln>
        </p:spPr>
      </p:sp>
      <p:sp>
        <p:nvSpPr>
          <p:cNvPr id="11" name="Text 9"/>
          <p:cNvSpPr txBox="1"/>
          <p:nvPr/>
        </p:nvSpPr>
        <p:spPr>
          <a:xfrm>
            <a:off x="914400" y="3291840"/>
            <a:ext cx="4663440" cy="274320"/>
          </a:xfrm>
          <a:prstGeom prst="rect">
            <a:avLst/>
          </a:prstGeom>
          <a:noFill/>
          <a:ln/>
        </p:spPr>
        <p:txBody>
          <a:bodyPr wrap="square" lIns="0" tIns="0" rIns="0" bIns="0" rtlCol="0" anchor="ctr"/>
          <a:lstStyle/>
          <a:p>
            <a:pPr indent="0" marL="0">
              <a:buNone/>
            </a:pPr>
            <a:r>
              <a:rPr lang="en-US" sz="1200" b="1" dirty="0">
                <a:solidFill>
                  <a:srgbClr val="CFE0DC"/>
                </a:solidFill>
                <a:latin typeface="Lato" pitchFamily="34" charset="0"/>
                <a:ea typeface="Lato" pitchFamily="34" charset="-122"/>
                <a:cs typeface="Lato" pitchFamily="34" charset="-120"/>
              </a:rPr>
              <a:t>Programming Language</a:t>
            </a:r>
            <a:endParaRPr lang="en-US" sz="1200" dirty="0"/>
          </a:p>
        </p:txBody>
      </p:sp>
      <p:sp>
        <p:nvSpPr>
          <p:cNvPr id="12" name="Text 10"/>
          <p:cNvSpPr txBox="1"/>
          <p:nvPr/>
        </p:nvSpPr>
        <p:spPr>
          <a:xfrm>
            <a:off x="914400" y="3566160"/>
            <a:ext cx="4663440" cy="320040"/>
          </a:xfrm>
          <a:prstGeom prst="rect">
            <a:avLst/>
          </a:prstGeom>
          <a:noFill/>
          <a:ln/>
        </p:spPr>
        <p:txBody>
          <a:bodyPr wrap="square" lIns="0" tIns="0" rIns="0" bIns="0" rtlCol="0" anchor="ctr"/>
          <a:lstStyle/>
          <a:p>
            <a:pPr indent="0" marL="0">
              <a:buNone/>
            </a:pPr>
            <a:r>
              <a:rPr lang="en-US" sz="1200" dirty="0">
                <a:solidFill>
                  <a:srgbClr val="9DB8B2"/>
                </a:solidFill>
                <a:latin typeface="Lato" pitchFamily="34" charset="0"/>
                <a:ea typeface="Lato" pitchFamily="34" charset="-122"/>
                <a:cs typeface="Lato" pitchFamily="34" charset="-120"/>
              </a:rPr>
              <a:t>Java / Python</a:t>
            </a:r>
            <a:endParaRPr lang="en-US" sz="1200" dirty="0"/>
          </a:p>
        </p:txBody>
      </p:sp>
      <p:sp>
        <p:nvSpPr>
          <p:cNvPr id="13" name="Shape 11"/>
          <p:cNvSpPr/>
          <p:nvPr/>
        </p:nvSpPr>
        <p:spPr>
          <a:xfrm>
            <a:off x="914400" y="3904488"/>
            <a:ext cx="4663440" cy="0"/>
          </a:xfrm>
          <a:prstGeom prst="line">
            <a:avLst/>
          </a:prstGeom>
          <a:noFill/>
          <a:ln w="6350">
            <a:solidFill>
              <a:srgbClr val="2A5B54"/>
            </a:solidFill>
            <a:prstDash val="solid"/>
          </a:ln>
        </p:spPr>
      </p:sp>
      <p:sp>
        <p:nvSpPr>
          <p:cNvPr id="14" name="Text 12"/>
          <p:cNvSpPr txBox="1"/>
          <p:nvPr/>
        </p:nvSpPr>
        <p:spPr>
          <a:xfrm>
            <a:off x="914400" y="3977640"/>
            <a:ext cx="4663440" cy="274320"/>
          </a:xfrm>
          <a:prstGeom prst="rect">
            <a:avLst/>
          </a:prstGeom>
          <a:noFill/>
          <a:ln/>
        </p:spPr>
        <p:txBody>
          <a:bodyPr wrap="square" lIns="0" tIns="0" rIns="0" bIns="0" rtlCol="0" anchor="ctr"/>
          <a:lstStyle/>
          <a:p>
            <a:pPr indent="0" marL="0">
              <a:buNone/>
            </a:pPr>
            <a:r>
              <a:rPr lang="en-US" sz="1200" b="1" dirty="0">
                <a:solidFill>
                  <a:srgbClr val="CFE0DC"/>
                </a:solidFill>
                <a:latin typeface="Lato" pitchFamily="34" charset="0"/>
                <a:ea typeface="Lato" pitchFamily="34" charset="-122"/>
                <a:cs typeface="Lato" pitchFamily="34" charset="-120"/>
              </a:rPr>
              <a:t>IDE / Dev. Environment</a:t>
            </a:r>
            <a:endParaRPr lang="en-US" sz="1200" dirty="0"/>
          </a:p>
        </p:txBody>
      </p:sp>
      <p:sp>
        <p:nvSpPr>
          <p:cNvPr id="15" name="Text 13"/>
          <p:cNvSpPr txBox="1"/>
          <p:nvPr/>
        </p:nvSpPr>
        <p:spPr>
          <a:xfrm>
            <a:off x="914400" y="4251960"/>
            <a:ext cx="4663440" cy="320040"/>
          </a:xfrm>
          <a:prstGeom prst="rect">
            <a:avLst/>
          </a:prstGeom>
          <a:noFill/>
          <a:ln/>
        </p:spPr>
        <p:txBody>
          <a:bodyPr wrap="square" lIns="0" tIns="0" rIns="0" bIns="0" rtlCol="0" anchor="ctr"/>
          <a:lstStyle/>
          <a:p>
            <a:pPr indent="0" marL="0">
              <a:buNone/>
            </a:pPr>
            <a:r>
              <a:rPr lang="en-US" sz="1200" dirty="0">
                <a:solidFill>
                  <a:srgbClr val="9DB8B2"/>
                </a:solidFill>
                <a:latin typeface="Lato" pitchFamily="34" charset="0"/>
                <a:ea typeface="Lato" pitchFamily="34" charset="-122"/>
                <a:cs typeface="Lato" pitchFamily="34" charset="-120"/>
              </a:rPr>
              <a:t>VS Code</a:t>
            </a:r>
            <a:endParaRPr lang="en-US" sz="1200" dirty="0"/>
          </a:p>
        </p:txBody>
      </p:sp>
      <p:sp>
        <p:nvSpPr>
          <p:cNvPr id="16" name="Shape 14"/>
          <p:cNvSpPr/>
          <p:nvPr/>
        </p:nvSpPr>
        <p:spPr>
          <a:xfrm>
            <a:off x="914400" y="4590288"/>
            <a:ext cx="4663440" cy="0"/>
          </a:xfrm>
          <a:prstGeom prst="line">
            <a:avLst/>
          </a:prstGeom>
          <a:noFill/>
          <a:ln w="6350">
            <a:solidFill>
              <a:srgbClr val="2A5B54"/>
            </a:solidFill>
            <a:prstDash val="solid"/>
          </a:ln>
        </p:spPr>
      </p:sp>
      <p:sp>
        <p:nvSpPr>
          <p:cNvPr id="17" name="Text 15"/>
          <p:cNvSpPr txBox="1"/>
          <p:nvPr/>
        </p:nvSpPr>
        <p:spPr>
          <a:xfrm>
            <a:off x="914400" y="4663440"/>
            <a:ext cx="4663440" cy="274320"/>
          </a:xfrm>
          <a:prstGeom prst="rect">
            <a:avLst/>
          </a:prstGeom>
          <a:noFill/>
          <a:ln/>
        </p:spPr>
        <p:txBody>
          <a:bodyPr wrap="square" lIns="0" tIns="0" rIns="0" bIns="0" rtlCol="0" anchor="ctr"/>
          <a:lstStyle/>
          <a:p>
            <a:pPr indent="0" marL="0">
              <a:buNone/>
            </a:pPr>
            <a:r>
              <a:rPr lang="en-US" sz="1200" b="1" dirty="0">
                <a:solidFill>
                  <a:srgbClr val="CFE0DC"/>
                </a:solidFill>
                <a:latin typeface="Lato" pitchFamily="34" charset="0"/>
                <a:ea typeface="Lato" pitchFamily="34" charset="-122"/>
                <a:cs typeface="Lato" pitchFamily="34" charset="-120"/>
              </a:rPr>
              <a:t>Version Control</a:t>
            </a:r>
            <a:endParaRPr lang="en-US" sz="1200" dirty="0"/>
          </a:p>
        </p:txBody>
      </p:sp>
      <p:sp>
        <p:nvSpPr>
          <p:cNvPr id="18" name="Text 16"/>
          <p:cNvSpPr txBox="1"/>
          <p:nvPr/>
        </p:nvSpPr>
        <p:spPr>
          <a:xfrm>
            <a:off x="914400" y="4937760"/>
            <a:ext cx="4663440" cy="320040"/>
          </a:xfrm>
          <a:prstGeom prst="rect">
            <a:avLst/>
          </a:prstGeom>
          <a:noFill/>
          <a:ln/>
        </p:spPr>
        <p:txBody>
          <a:bodyPr wrap="square" lIns="0" tIns="0" rIns="0" bIns="0" rtlCol="0" anchor="ctr"/>
          <a:lstStyle/>
          <a:p>
            <a:pPr indent="0" marL="0">
              <a:buNone/>
            </a:pPr>
            <a:r>
              <a:rPr lang="en-US" sz="1200" dirty="0">
                <a:solidFill>
                  <a:srgbClr val="9DB8B2"/>
                </a:solidFill>
                <a:latin typeface="Lato" pitchFamily="34" charset="0"/>
                <a:ea typeface="Lato" pitchFamily="34" charset="-122"/>
                <a:cs typeface="Lato" pitchFamily="34" charset="-120"/>
              </a:rPr>
              <a:t>Git &amp; GitHub</a:t>
            </a:r>
            <a:endParaRPr lang="en-US" sz="1200" dirty="0"/>
          </a:p>
        </p:txBody>
      </p:sp>
      <p:sp>
        <p:nvSpPr>
          <p:cNvPr id="19" name="Shape 17"/>
          <p:cNvSpPr/>
          <p:nvPr/>
        </p:nvSpPr>
        <p:spPr>
          <a:xfrm>
            <a:off x="914400" y="5276088"/>
            <a:ext cx="4663440" cy="0"/>
          </a:xfrm>
          <a:prstGeom prst="line">
            <a:avLst/>
          </a:prstGeom>
          <a:noFill/>
          <a:ln w="6350">
            <a:solidFill>
              <a:srgbClr val="2A5B54"/>
            </a:solidFill>
            <a:prstDash val="solid"/>
          </a:ln>
        </p:spPr>
      </p:sp>
      <p:sp>
        <p:nvSpPr>
          <p:cNvPr id="20" name="Text 18"/>
          <p:cNvSpPr txBox="1"/>
          <p:nvPr/>
        </p:nvSpPr>
        <p:spPr>
          <a:xfrm>
            <a:off x="914400" y="5349240"/>
            <a:ext cx="4663440" cy="274320"/>
          </a:xfrm>
          <a:prstGeom prst="rect">
            <a:avLst/>
          </a:prstGeom>
          <a:noFill/>
          <a:ln/>
        </p:spPr>
        <p:txBody>
          <a:bodyPr wrap="square" lIns="0" tIns="0" rIns="0" bIns="0" rtlCol="0" anchor="ctr"/>
          <a:lstStyle/>
          <a:p>
            <a:pPr indent="0" marL="0">
              <a:buNone/>
            </a:pPr>
            <a:r>
              <a:rPr lang="en-US" sz="1200" b="1" dirty="0">
                <a:solidFill>
                  <a:srgbClr val="CFE0DC"/>
                </a:solidFill>
                <a:latin typeface="Lato" pitchFamily="34" charset="0"/>
                <a:ea typeface="Lato" pitchFamily="34" charset="-122"/>
                <a:cs typeface="Lato" pitchFamily="34" charset="-120"/>
              </a:rPr>
              <a:t>Storage (if applicable)</a:t>
            </a:r>
            <a:endParaRPr lang="en-US" sz="1200" dirty="0"/>
          </a:p>
        </p:txBody>
      </p:sp>
      <p:sp>
        <p:nvSpPr>
          <p:cNvPr id="21" name="Text 19"/>
          <p:cNvSpPr txBox="1"/>
          <p:nvPr/>
        </p:nvSpPr>
        <p:spPr>
          <a:xfrm>
            <a:off x="914400" y="5623560"/>
            <a:ext cx="4663440" cy="320040"/>
          </a:xfrm>
          <a:prstGeom prst="rect">
            <a:avLst/>
          </a:prstGeom>
          <a:noFill/>
          <a:ln/>
        </p:spPr>
        <p:txBody>
          <a:bodyPr wrap="square" lIns="0" tIns="0" rIns="0" bIns="0" rtlCol="0" anchor="ctr"/>
          <a:lstStyle/>
          <a:p>
            <a:pPr indent="0" marL="0">
              <a:buNone/>
            </a:pPr>
            <a:r>
              <a:rPr lang="en-US" sz="1200" dirty="0">
                <a:solidFill>
                  <a:srgbClr val="9DB8B2"/>
                </a:solidFill>
                <a:latin typeface="Lato" pitchFamily="34" charset="0"/>
                <a:ea typeface="Lato" pitchFamily="34" charset="-122"/>
                <a:cs typeface="Lato" pitchFamily="34" charset="-120"/>
              </a:rPr>
              <a:t>Local file storage or lightweight database</a:t>
            </a:r>
            <a:endParaRPr lang="en-US" sz="1200" dirty="0"/>
          </a:p>
        </p:txBody>
      </p:sp>
      <p:sp>
        <p:nvSpPr>
          <p:cNvPr id="22" name="Shape 20"/>
          <p:cNvSpPr/>
          <p:nvPr/>
        </p:nvSpPr>
        <p:spPr>
          <a:xfrm>
            <a:off x="6263640" y="1783080"/>
            <a:ext cx="5394960" cy="0"/>
          </a:xfrm>
          <a:prstGeom prst="line">
            <a:avLst/>
          </a:prstGeom>
          <a:noFill/>
          <a:ln w="19050">
            <a:solidFill>
              <a:srgbClr val="0E3B36"/>
            </a:solidFill>
            <a:prstDash val="solid"/>
          </a:ln>
        </p:spPr>
      </p:sp>
      <p:sp>
        <p:nvSpPr>
          <p:cNvPr id="23" name="Text 21"/>
          <p:cNvSpPr txBox="1"/>
          <p:nvPr/>
        </p:nvSpPr>
        <p:spPr>
          <a:xfrm>
            <a:off x="6263640" y="2011680"/>
            <a:ext cx="4754880" cy="365760"/>
          </a:xfrm>
          <a:prstGeom prst="rect">
            <a:avLst/>
          </a:prstGeom>
          <a:noFill/>
          <a:ln/>
        </p:spPr>
        <p:txBody>
          <a:bodyPr wrap="square" lIns="0" tIns="0" rIns="0" bIns="0" rtlCol="0" anchor="ctr"/>
          <a:lstStyle/>
          <a:p>
            <a:pPr indent="0" marL="0">
              <a:buNone/>
            </a:pPr>
            <a:r>
              <a:rPr lang="en-US" sz="1300" b="1" spc="200" kern="0" dirty="0">
                <a:solidFill>
                  <a:srgbClr val="C6552B"/>
                </a:solidFill>
                <a:latin typeface="Lato" pitchFamily="34" charset="0"/>
                <a:ea typeface="Lato" pitchFamily="34" charset="-122"/>
                <a:cs typeface="Lato" pitchFamily="34" charset="-120"/>
              </a:rPr>
              <a:t>HARDWARE</a:t>
            </a:r>
            <a:endParaRPr lang="en-US" sz="1300" dirty="0"/>
          </a:p>
        </p:txBody>
      </p:sp>
      <p:sp>
        <p:nvSpPr>
          <p:cNvPr id="24" name="Text 22"/>
          <p:cNvSpPr txBox="1"/>
          <p:nvPr/>
        </p:nvSpPr>
        <p:spPr>
          <a:xfrm>
            <a:off x="6263640" y="2606040"/>
            <a:ext cx="5029200" cy="274320"/>
          </a:xfrm>
          <a:prstGeom prst="rect">
            <a:avLst/>
          </a:prstGeom>
          <a:noFill/>
          <a:ln/>
        </p:spPr>
        <p:txBody>
          <a:bodyPr wrap="square" lIns="0" tIns="0" rIns="0" bIns="0" rtlCol="0" anchor="ctr"/>
          <a:lstStyle/>
          <a:p>
            <a:pPr indent="0" marL="0">
              <a:buNone/>
            </a:pPr>
            <a:r>
              <a:rPr lang="en-US" sz="1200" b="1" dirty="0">
                <a:solidFill>
                  <a:srgbClr val="1D2422"/>
                </a:solidFill>
                <a:latin typeface="Lato" pitchFamily="34" charset="0"/>
                <a:ea typeface="Lato" pitchFamily="34" charset="-122"/>
                <a:cs typeface="Lato" pitchFamily="34" charset="-120"/>
              </a:rPr>
              <a:t>Processor</a:t>
            </a:r>
            <a:endParaRPr lang="en-US" sz="1200" dirty="0"/>
          </a:p>
        </p:txBody>
      </p:sp>
      <p:sp>
        <p:nvSpPr>
          <p:cNvPr id="25" name="Text 23"/>
          <p:cNvSpPr txBox="1"/>
          <p:nvPr/>
        </p:nvSpPr>
        <p:spPr>
          <a:xfrm>
            <a:off x="6263640" y="2880360"/>
            <a:ext cx="5029200" cy="320040"/>
          </a:xfrm>
          <a:prstGeom prst="rect">
            <a:avLst/>
          </a:prstGeom>
          <a:noFill/>
          <a:ln/>
        </p:spPr>
        <p:txBody>
          <a:bodyPr wrap="square" lIns="0" tIns="0" rIns="0" bIns="0" rtlCol="0" anchor="ctr"/>
          <a:lstStyle/>
          <a:p>
            <a:pPr indent="0" marL="0">
              <a:buNone/>
            </a:pPr>
            <a:r>
              <a:rPr lang="en-US" sz="1200" dirty="0">
                <a:solidFill>
                  <a:srgbClr val="5B6560"/>
                </a:solidFill>
                <a:latin typeface="Lato" pitchFamily="34" charset="0"/>
                <a:ea typeface="Lato" pitchFamily="34" charset="-122"/>
                <a:cs typeface="Lato" pitchFamily="34" charset="-120"/>
              </a:rPr>
              <a:t>Intel Core i5 (8th Gen) or higher</a:t>
            </a:r>
            <a:endParaRPr lang="en-US" sz="1200" dirty="0"/>
          </a:p>
        </p:txBody>
      </p:sp>
      <p:sp>
        <p:nvSpPr>
          <p:cNvPr id="26" name="Shape 24"/>
          <p:cNvSpPr/>
          <p:nvPr/>
        </p:nvSpPr>
        <p:spPr>
          <a:xfrm>
            <a:off x="6263640" y="3246120"/>
            <a:ext cx="5029200" cy="0"/>
          </a:xfrm>
          <a:prstGeom prst="line">
            <a:avLst/>
          </a:prstGeom>
          <a:noFill/>
          <a:ln w="6350">
            <a:solidFill>
              <a:srgbClr val="D9D2C4"/>
            </a:solidFill>
            <a:prstDash val="solid"/>
          </a:ln>
        </p:spPr>
      </p:sp>
      <p:sp>
        <p:nvSpPr>
          <p:cNvPr id="27" name="Text 25"/>
          <p:cNvSpPr txBox="1"/>
          <p:nvPr/>
        </p:nvSpPr>
        <p:spPr>
          <a:xfrm>
            <a:off x="6263640" y="3319272"/>
            <a:ext cx="5029200" cy="274320"/>
          </a:xfrm>
          <a:prstGeom prst="rect">
            <a:avLst/>
          </a:prstGeom>
          <a:noFill/>
          <a:ln/>
        </p:spPr>
        <p:txBody>
          <a:bodyPr wrap="square" lIns="0" tIns="0" rIns="0" bIns="0" rtlCol="0" anchor="ctr"/>
          <a:lstStyle/>
          <a:p>
            <a:pPr indent="0" marL="0">
              <a:buNone/>
            </a:pPr>
            <a:r>
              <a:rPr lang="en-US" sz="1200" b="1" dirty="0">
                <a:solidFill>
                  <a:srgbClr val="1D2422"/>
                </a:solidFill>
                <a:latin typeface="Lato" pitchFamily="34" charset="0"/>
                <a:ea typeface="Lato" pitchFamily="34" charset="-122"/>
                <a:cs typeface="Lato" pitchFamily="34" charset="-120"/>
              </a:rPr>
              <a:t>RAM</a:t>
            </a:r>
            <a:endParaRPr lang="en-US" sz="1200" dirty="0"/>
          </a:p>
        </p:txBody>
      </p:sp>
      <p:sp>
        <p:nvSpPr>
          <p:cNvPr id="28" name="Text 26"/>
          <p:cNvSpPr txBox="1"/>
          <p:nvPr/>
        </p:nvSpPr>
        <p:spPr>
          <a:xfrm>
            <a:off x="6263640" y="3593592"/>
            <a:ext cx="5029200" cy="320040"/>
          </a:xfrm>
          <a:prstGeom prst="rect">
            <a:avLst/>
          </a:prstGeom>
          <a:noFill/>
          <a:ln/>
        </p:spPr>
        <p:txBody>
          <a:bodyPr wrap="square" lIns="0" tIns="0" rIns="0" bIns="0" rtlCol="0" anchor="ctr"/>
          <a:lstStyle/>
          <a:p>
            <a:pPr indent="0" marL="0">
              <a:buNone/>
            </a:pPr>
            <a:r>
              <a:rPr lang="en-US" sz="1200" dirty="0">
                <a:solidFill>
                  <a:srgbClr val="5B6560"/>
                </a:solidFill>
                <a:latin typeface="Lato" pitchFamily="34" charset="0"/>
                <a:ea typeface="Lato" pitchFamily="34" charset="-122"/>
                <a:cs typeface="Lato" pitchFamily="34" charset="-120"/>
              </a:rPr>
              <a:t>8 GB minimum (16 GB recommended)</a:t>
            </a:r>
            <a:endParaRPr lang="en-US" sz="1200" dirty="0"/>
          </a:p>
        </p:txBody>
      </p:sp>
      <p:sp>
        <p:nvSpPr>
          <p:cNvPr id="29" name="Shape 27"/>
          <p:cNvSpPr/>
          <p:nvPr/>
        </p:nvSpPr>
        <p:spPr>
          <a:xfrm>
            <a:off x="6263640" y="3959352"/>
            <a:ext cx="5029200" cy="0"/>
          </a:xfrm>
          <a:prstGeom prst="line">
            <a:avLst/>
          </a:prstGeom>
          <a:noFill/>
          <a:ln w="6350">
            <a:solidFill>
              <a:srgbClr val="D9D2C4"/>
            </a:solidFill>
            <a:prstDash val="solid"/>
          </a:ln>
        </p:spPr>
      </p:sp>
      <p:sp>
        <p:nvSpPr>
          <p:cNvPr id="30" name="Text 28"/>
          <p:cNvSpPr txBox="1"/>
          <p:nvPr/>
        </p:nvSpPr>
        <p:spPr>
          <a:xfrm>
            <a:off x="6263640" y="4032504"/>
            <a:ext cx="5029200" cy="274320"/>
          </a:xfrm>
          <a:prstGeom prst="rect">
            <a:avLst/>
          </a:prstGeom>
          <a:noFill/>
          <a:ln/>
        </p:spPr>
        <p:txBody>
          <a:bodyPr wrap="square" lIns="0" tIns="0" rIns="0" bIns="0" rtlCol="0" anchor="ctr"/>
          <a:lstStyle/>
          <a:p>
            <a:pPr indent="0" marL="0">
              <a:buNone/>
            </a:pPr>
            <a:r>
              <a:rPr lang="en-US" sz="1200" b="1" dirty="0">
                <a:solidFill>
                  <a:srgbClr val="1D2422"/>
                </a:solidFill>
                <a:latin typeface="Lato" pitchFamily="34" charset="0"/>
                <a:ea typeface="Lato" pitchFamily="34" charset="-122"/>
                <a:cs typeface="Lato" pitchFamily="34" charset="-120"/>
              </a:rPr>
              <a:t>Storage</a:t>
            </a:r>
            <a:endParaRPr lang="en-US" sz="1200" dirty="0"/>
          </a:p>
        </p:txBody>
      </p:sp>
      <p:sp>
        <p:nvSpPr>
          <p:cNvPr id="31" name="Text 29"/>
          <p:cNvSpPr txBox="1"/>
          <p:nvPr/>
        </p:nvSpPr>
        <p:spPr>
          <a:xfrm>
            <a:off x="6263640" y="4306824"/>
            <a:ext cx="5029200" cy="320040"/>
          </a:xfrm>
          <a:prstGeom prst="rect">
            <a:avLst/>
          </a:prstGeom>
          <a:noFill/>
          <a:ln/>
        </p:spPr>
        <p:txBody>
          <a:bodyPr wrap="square" lIns="0" tIns="0" rIns="0" bIns="0" rtlCol="0" anchor="ctr"/>
          <a:lstStyle/>
          <a:p>
            <a:pPr indent="0" marL="0">
              <a:buNone/>
            </a:pPr>
            <a:r>
              <a:rPr lang="en-US" sz="1200" dirty="0">
                <a:solidFill>
                  <a:srgbClr val="5B6560"/>
                </a:solidFill>
                <a:latin typeface="Lato" pitchFamily="34" charset="0"/>
                <a:ea typeface="Lato" pitchFamily="34" charset="-122"/>
                <a:cs typeface="Lato" pitchFamily="34" charset="-120"/>
              </a:rPr>
              <a:t>256 GB SSD or higher</a:t>
            </a:r>
            <a:endParaRPr lang="en-US" sz="1200" dirty="0"/>
          </a:p>
        </p:txBody>
      </p:sp>
      <p:sp>
        <p:nvSpPr>
          <p:cNvPr id="32" name="Shape 30"/>
          <p:cNvSpPr/>
          <p:nvPr/>
        </p:nvSpPr>
        <p:spPr>
          <a:xfrm>
            <a:off x="6263640" y="4672584"/>
            <a:ext cx="5029200" cy="0"/>
          </a:xfrm>
          <a:prstGeom prst="line">
            <a:avLst/>
          </a:prstGeom>
          <a:noFill/>
          <a:ln w="6350">
            <a:solidFill>
              <a:srgbClr val="D9D2C4"/>
            </a:solidFill>
            <a:prstDash val="solid"/>
          </a:ln>
        </p:spPr>
      </p:sp>
      <p:sp>
        <p:nvSpPr>
          <p:cNvPr id="33" name="Text 31"/>
          <p:cNvSpPr txBox="1"/>
          <p:nvPr/>
        </p:nvSpPr>
        <p:spPr>
          <a:xfrm>
            <a:off x="6263640" y="4745736"/>
            <a:ext cx="5029200" cy="274320"/>
          </a:xfrm>
          <a:prstGeom prst="rect">
            <a:avLst/>
          </a:prstGeom>
          <a:noFill/>
          <a:ln/>
        </p:spPr>
        <p:txBody>
          <a:bodyPr wrap="square" lIns="0" tIns="0" rIns="0" bIns="0" rtlCol="0" anchor="ctr"/>
          <a:lstStyle/>
          <a:p>
            <a:pPr indent="0" marL="0">
              <a:buNone/>
            </a:pPr>
            <a:r>
              <a:rPr lang="en-US" sz="1200" b="1" dirty="0">
                <a:solidFill>
                  <a:srgbClr val="1D2422"/>
                </a:solidFill>
                <a:latin typeface="Lato" pitchFamily="34" charset="0"/>
                <a:ea typeface="Lato" pitchFamily="34" charset="-122"/>
                <a:cs typeface="Lato" pitchFamily="34" charset="-120"/>
              </a:rPr>
              <a:t>Display</a:t>
            </a:r>
            <a:endParaRPr lang="en-US" sz="1200" dirty="0"/>
          </a:p>
        </p:txBody>
      </p:sp>
      <p:sp>
        <p:nvSpPr>
          <p:cNvPr id="34" name="Text 32"/>
          <p:cNvSpPr txBox="1"/>
          <p:nvPr/>
        </p:nvSpPr>
        <p:spPr>
          <a:xfrm>
            <a:off x="6263640" y="5020056"/>
            <a:ext cx="5029200" cy="320040"/>
          </a:xfrm>
          <a:prstGeom prst="rect">
            <a:avLst/>
          </a:prstGeom>
          <a:noFill/>
          <a:ln/>
        </p:spPr>
        <p:txBody>
          <a:bodyPr wrap="square" lIns="0" tIns="0" rIns="0" bIns="0" rtlCol="0" anchor="ctr"/>
          <a:lstStyle/>
          <a:p>
            <a:pPr indent="0" marL="0">
              <a:buNone/>
            </a:pPr>
            <a:r>
              <a:rPr lang="en-US" sz="1200" dirty="0">
                <a:solidFill>
                  <a:srgbClr val="5B6560"/>
                </a:solidFill>
                <a:latin typeface="Lato" pitchFamily="34" charset="0"/>
                <a:ea typeface="Lato" pitchFamily="34" charset="-122"/>
                <a:cs typeface="Lato" pitchFamily="34" charset="-120"/>
              </a:rPr>
              <a:t>1920 × 1080 resolution</a:t>
            </a:r>
            <a:endParaRPr lang="en-US" sz="1200" dirty="0"/>
          </a:p>
        </p:txBody>
      </p:sp>
      <p:sp>
        <p:nvSpPr>
          <p:cNvPr id="35" name="Shape 33"/>
          <p:cNvSpPr/>
          <p:nvPr/>
        </p:nvSpPr>
        <p:spPr>
          <a:xfrm>
            <a:off x="6263640" y="5385816"/>
            <a:ext cx="5029200" cy="0"/>
          </a:xfrm>
          <a:prstGeom prst="line">
            <a:avLst/>
          </a:prstGeom>
          <a:noFill/>
          <a:ln w="6350">
            <a:solidFill>
              <a:srgbClr val="D9D2C4"/>
            </a:solidFill>
            <a:prstDash val="solid"/>
          </a:ln>
        </p:spPr>
      </p:sp>
      <p:sp>
        <p:nvSpPr>
          <p:cNvPr id="36" name="Text 34"/>
          <p:cNvSpPr txBox="1"/>
          <p:nvPr/>
        </p:nvSpPr>
        <p:spPr>
          <a:xfrm>
            <a:off x="6263640" y="5458968"/>
            <a:ext cx="5029200" cy="274320"/>
          </a:xfrm>
          <a:prstGeom prst="rect">
            <a:avLst/>
          </a:prstGeom>
          <a:noFill/>
          <a:ln/>
        </p:spPr>
        <p:txBody>
          <a:bodyPr wrap="square" lIns="0" tIns="0" rIns="0" bIns="0" rtlCol="0" anchor="ctr"/>
          <a:lstStyle/>
          <a:p>
            <a:pPr indent="0" marL="0">
              <a:buNone/>
            </a:pPr>
            <a:r>
              <a:rPr lang="en-US" sz="1200" b="1" dirty="0">
                <a:solidFill>
                  <a:srgbClr val="1D2422"/>
                </a:solidFill>
                <a:latin typeface="Lato" pitchFamily="34" charset="0"/>
                <a:ea typeface="Lato" pitchFamily="34" charset="-122"/>
                <a:cs typeface="Lato" pitchFamily="34" charset="-120"/>
              </a:rPr>
              <a:t>Peripherals</a:t>
            </a:r>
            <a:endParaRPr lang="en-US" sz="1200" dirty="0"/>
          </a:p>
        </p:txBody>
      </p:sp>
      <p:sp>
        <p:nvSpPr>
          <p:cNvPr id="37" name="Text 35"/>
          <p:cNvSpPr txBox="1"/>
          <p:nvPr/>
        </p:nvSpPr>
        <p:spPr>
          <a:xfrm>
            <a:off x="6263640" y="5733288"/>
            <a:ext cx="5029200" cy="320040"/>
          </a:xfrm>
          <a:prstGeom prst="rect">
            <a:avLst/>
          </a:prstGeom>
          <a:noFill/>
          <a:ln/>
        </p:spPr>
        <p:txBody>
          <a:bodyPr wrap="square" lIns="0" tIns="0" rIns="0" bIns="0" rtlCol="0" anchor="ctr"/>
          <a:lstStyle/>
          <a:p>
            <a:pPr indent="0" marL="0">
              <a:buNone/>
            </a:pPr>
            <a:r>
              <a:rPr lang="en-US" sz="1200" dirty="0">
                <a:solidFill>
                  <a:srgbClr val="5B6560"/>
                </a:solidFill>
                <a:latin typeface="Lato" pitchFamily="34" charset="0"/>
                <a:ea typeface="Lato" pitchFamily="34" charset="-122"/>
                <a:cs typeface="Lato" pitchFamily="34" charset="-120"/>
              </a:rPr>
              <a:t>Standard keyboard, mouse</a:t>
            </a:r>
            <a:endParaRPr lang="en-US" sz="1200" dirty="0"/>
          </a:p>
        </p:txBody>
      </p:sp>
      <p:sp>
        <p:nvSpPr>
          <p:cNvPr id="38" name="Text 36"/>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spc="150" kern="0" dirty="0">
                <a:solidFill>
                  <a:srgbClr val="5B6560"/>
                </a:solidFill>
                <a:latin typeface="Lato" pitchFamily="34" charset="0"/>
                <a:ea typeface="Lato" pitchFamily="34" charset="-122"/>
                <a:cs typeface="Lato" pitchFamily="34" charset="-120"/>
              </a:rPr>
              <a:t>RECOMMENDATION ENGINE</a:t>
            </a:r>
            <a:endParaRPr lang="en-US" sz="900" dirty="0"/>
          </a:p>
        </p:txBody>
      </p:sp>
      <p:sp>
        <p:nvSpPr>
          <p:cNvPr id="39" name="Text 37"/>
          <p:cNvSpPr txBox="1"/>
          <p:nvPr/>
        </p:nvSpPr>
        <p:spPr>
          <a:xfrm>
            <a:off x="11183112" y="6473952"/>
            <a:ext cx="548640" cy="274320"/>
          </a:xfrm>
          <a:prstGeom prst="rect">
            <a:avLst/>
          </a:prstGeom>
          <a:noFill/>
          <a:ln/>
        </p:spPr>
        <p:txBody>
          <a:bodyPr wrap="square" lIns="0" tIns="0" rIns="0" bIns="0" rtlCol="0" anchor="ctr"/>
          <a:lstStyle/>
          <a:p>
            <a:pPr algn="r" indent="0" marL="0">
              <a:buNone/>
            </a:pPr>
            <a:r>
              <a:rPr lang="en-US" sz="900" spc="100" kern="0" dirty="0">
                <a:solidFill>
                  <a:srgbClr val="5B6560"/>
                </a:solidFill>
                <a:latin typeface="Lato" pitchFamily="34" charset="0"/>
                <a:ea typeface="Lato" pitchFamily="34" charset="-122"/>
                <a:cs typeface="Lato" pitchFamily="34" charset="-120"/>
              </a:rPr>
              <a:t>05</a:t>
            </a:r>
            <a:endParaRPr lang="en-US" sz="900" dirty="0"/>
          </a:p>
        </p:txBody>
      </p:sp>
      <p:sp>
        <p:nvSpPr>
          <p:cNvPr id="40" name="Shape 38"/>
          <p:cNvSpPr/>
          <p:nvPr/>
        </p:nvSpPr>
        <p:spPr>
          <a:xfrm>
            <a:off x="548640" y="6355080"/>
            <a:ext cx="11091672" cy="0"/>
          </a:xfrm>
          <a:prstGeom prst="line">
            <a:avLst/>
          </a:prstGeom>
          <a:noFill/>
          <a:ln w="9525">
            <a:solidFill>
              <a:srgbClr val="D9D2C4"/>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rect">
            <a:avLst/>
          </a:prstGeom>
          <a:solidFill>
            <a:srgbClr val="C6552B"/>
          </a:solidFill>
          <a:ln/>
        </p:spPr>
      </p:sp>
      <p:sp>
        <p:nvSpPr>
          <p:cNvPr id="3" name="Text 1"/>
          <p:cNvSpPr txBox="1"/>
          <p:nvPr/>
        </p:nvSpPr>
        <p:spPr>
          <a:xfrm>
            <a:off x="786384" y="457200"/>
            <a:ext cx="7315200" cy="320040"/>
          </a:xfrm>
          <a:prstGeom prst="rect">
            <a:avLst/>
          </a:prstGeom>
          <a:noFill/>
          <a:ln/>
        </p:spPr>
        <p:txBody>
          <a:bodyPr wrap="square" lIns="0" tIns="0" rIns="0" bIns="0" rtlCol="0" anchor="ctr"/>
          <a:lstStyle/>
          <a:p>
            <a:pPr indent="0" marL="0">
              <a:buNone/>
            </a:pPr>
            <a:r>
              <a:rPr lang="en-US" sz="1250" b="1" spc="220" kern="0" dirty="0">
                <a:solidFill>
                  <a:srgbClr val="C6552B"/>
                </a:solidFill>
                <a:latin typeface="Lato" pitchFamily="34" charset="0"/>
                <a:ea typeface="Lato" pitchFamily="34" charset="-122"/>
                <a:cs typeface="Lato" pitchFamily="34" charset="-120"/>
              </a:rPr>
              <a:t>HOW IT WORKS</a:t>
            </a:r>
            <a:endParaRPr lang="en-US" sz="1250" dirty="0"/>
          </a:p>
        </p:txBody>
      </p:sp>
      <p:sp>
        <p:nvSpPr>
          <p:cNvPr id="4" name="Text 2"/>
          <p:cNvSpPr txBox="1"/>
          <p:nvPr/>
        </p:nvSpPr>
        <p:spPr>
          <a:xfrm>
            <a:off x="530352" y="804672"/>
            <a:ext cx="9601200" cy="777240"/>
          </a:xfrm>
          <a:prstGeom prst="rect">
            <a:avLst/>
          </a:prstGeom>
          <a:noFill/>
          <a:ln/>
        </p:spPr>
        <p:txBody>
          <a:bodyPr wrap="square" lIns="0" tIns="0" rIns="0" bIns="0" rtlCol="0" anchor="ctr"/>
          <a:lstStyle/>
          <a:p>
            <a:pPr indent="0" marL="0">
              <a:buNone/>
            </a:pPr>
            <a:r>
              <a:rPr lang="en-US" sz="3300" dirty="0">
                <a:solidFill>
                  <a:srgbClr val="1D2422"/>
                </a:solidFill>
                <a:latin typeface="Playfair Display" pitchFamily="34" charset="0"/>
                <a:ea typeface="Playfair Display" pitchFamily="34" charset="-122"/>
                <a:cs typeface="Playfair Display" pitchFamily="34" charset="-120"/>
              </a:rPr>
              <a:t>Methodology</a:t>
            </a:r>
            <a:endParaRPr lang="en-US" sz="3300" dirty="0"/>
          </a:p>
        </p:txBody>
      </p:sp>
      <p:sp>
        <p:nvSpPr>
          <p:cNvPr id="5" name="Text 3"/>
          <p:cNvSpPr txBox="1"/>
          <p:nvPr/>
        </p:nvSpPr>
        <p:spPr>
          <a:xfrm>
            <a:off x="10607040" y="502920"/>
            <a:ext cx="1005840" cy="640080"/>
          </a:xfrm>
          <a:prstGeom prst="rect">
            <a:avLst/>
          </a:prstGeom>
          <a:noFill/>
          <a:ln/>
        </p:spPr>
        <p:txBody>
          <a:bodyPr wrap="square" lIns="0" tIns="0" rIns="0" bIns="0" rtlCol="0" anchor="ctr"/>
          <a:lstStyle/>
          <a:p>
            <a:pPr algn="r" indent="0" marL="0">
              <a:buNone/>
            </a:pPr>
            <a:r>
              <a:rPr lang="en-US" sz="2800" i="1" dirty="0">
                <a:solidFill>
                  <a:srgbClr val="D9D2C4"/>
                </a:solidFill>
                <a:latin typeface="Playfair Display" pitchFamily="34" charset="0"/>
                <a:ea typeface="Playfair Display" pitchFamily="34" charset="-122"/>
                <a:cs typeface="Playfair Display" pitchFamily="34" charset="-120"/>
              </a:rPr>
              <a:t>06</a:t>
            </a:r>
            <a:endParaRPr lang="en-US" sz="2800" dirty="0"/>
          </a:p>
        </p:txBody>
      </p:sp>
      <p:sp>
        <p:nvSpPr>
          <p:cNvPr id="6" name="Shape 4"/>
          <p:cNvSpPr/>
          <p:nvPr/>
        </p:nvSpPr>
        <p:spPr>
          <a:xfrm>
            <a:off x="548640" y="2377440"/>
            <a:ext cx="11109960" cy="0"/>
          </a:xfrm>
          <a:prstGeom prst="line">
            <a:avLst/>
          </a:prstGeom>
          <a:noFill/>
          <a:ln w="12700">
            <a:solidFill>
              <a:srgbClr val="D9D2C4"/>
            </a:solidFill>
            <a:prstDash val="solid"/>
          </a:ln>
        </p:spPr>
      </p:sp>
      <p:sp>
        <p:nvSpPr>
          <p:cNvPr id="7" name="Shape 5"/>
          <p:cNvSpPr/>
          <p:nvPr/>
        </p:nvSpPr>
        <p:spPr>
          <a:xfrm>
            <a:off x="548640" y="4663440"/>
            <a:ext cx="11109960" cy="0"/>
          </a:xfrm>
          <a:prstGeom prst="line">
            <a:avLst/>
          </a:prstGeom>
          <a:noFill/>
          <a:ln w="12700">
            <a:solidFill>
              <a:srgbClr val="D9D2C4"/>
            </a:solidFill>
            <a:prstDash val="solid"/>
          </a:ln>
        </p:spPr>
      </p:sp>
      <p:sp>
        <p:nvSpPr>
          <p:cNvPr id="8" name="Shape 6"/>
          <p:cNvSpPr/>
          <p:nvPr/>
        </p:nvSpPr>
        <p:spPr>
          <a:xfrm>
            <a:off x="548640" y="2103120"/>
            <a:ext cx="502920" cy="502920"/>
          </a:xfrm>
          <a:prstGeom prst="rect">
            <a:avLst/>
          </a:prstGeom>
          <a:solidFill>
            <a:srgbClr val="FAF7F0"/>
          </a:solidFill>
          <a:ln w="19050">
            <a:solidFill>
              <a:srgbClr val="C6552B"/>
            </a:solidFill>
            <a:prstDash val="solid"/>
          </a:ln>
        </p:spPr>
      </p:sp>
      <p:sp>
        <p:nvSpPr>
          <p:cNvPr id="9" name="Text 7"/>
          <p:cNvSpPr txBox="1"/>
          <p:nvPr/>
        </p:nvSpPr>
        <p:spPr>
          <a:xfrm>
            <a:off x="548640" y="2103120"/>
            <a:ext cx="502920" cy="502920"/>
          </a:xfrm>
          <a:prstGeom prst="rect">
            <a:avLst/>
          </a:prstGeom>
          <a:noFill/>
          <a:ln/>
        </p:spPr>
        <p:txBody>
          <a:bodyPr wrap="square" lIns="0" tIns="0" rIns="0" bIns="0" rtlCol="0" anchor="ctr"/>
          <a:lstStyle/>
          <a:p>
            <a:pPr algn="ctr" indent="0" marL="0">
              <a:buNone/>
            </a:pPr>
            <a:r>
              <a:rPr lang="en-US" sz="1500" i="1" dirty="0">
                <a:solidFill>
                  <a:srgbClr val="C6552B"/>
                </a:solidFill>
                <a:latin typeface="Playfair Display" pitchFamily="34" charset="0"/>
                <a:ea typeface="Playfair Display" pitchFamily="34" charset="-122"/>
                <a:cs typeface="Playfair Display" pitchFamily="34" charset="-120"/>
              </a:rPr>
              <a:t>01</a:t>
            </a:r>
            <a:endParaRPr lang="en-US" sz="1500" dirty="0"/>
          </a:p>
        </p:txBody>
      </p:sp>
      <p:sp>
        <p:nvSpPr>
          <p:cNvPr id="10" name="Text 8"/>
          <p:cNvSpPr txBox="1"/>
          <p:nvPr/>
        </p:nvSpPr>
        <p:spPr>
          <a:xfrm>
            <a:off x="1234440" y="2039112"/>
            <a:ext cx="2834640" cy="594360"/>
          </a:xfrm>
          <a:prstGeom prst="rect">
            <a:avLst/>
          </a:prstGeom>
          <a:noFill/>
          <a:ln/>
        </p:spPr>
        <p:txBody>
          <a:bodyPr wrap="square" lIns="0" tIns="0" rIns="0" bIns="0" rtlCol="0" anchor="ctr"/>
          <a:lstStyle/>
          <a:p>
            <a:pPr indent="0" marL="0">
              <a:buNone/>
            </a:pPr>
            <a:r>
              <a:rPr lang="en-US" sz="1600" dirty="0">
                <a:solidFill>
                  <a:srgbClr val="0E3B36"/>
                </a:solidFill>
                <a:latin typeface="Playfair Display" pitchFamily="34" charset="0"/>
                <a:ea typeface="Playfair Display" pitchFamily="34" charset="-122"/>
                <a:cs typeface="Playfair Display" pitchFamily="34" charset="-120"/>
              </a:rPr>
              <a:t>Data Collection</a:t>
            </a:r>
            <a:endParaRPr lang="en-US" sz="1600" dirty="0"/>
          </a:p>
        </p:txBody>
      </p:sp>
      <p:sp>
        <p:nvSpPr>
          <p:cNvPr id="11" name="Text 9"/>
          <p:cNvSpPr txBox="1"/>
          <p:nvPr/>
        </p:nvSpPr>
        <p:spPr>
          <a:xfrm>
            <a:off x="548640" y="2743200"/>
            <a:ext cx="3520440" cy="777240"/>
          </a:xfrm>
          <a:prstGeom prst="rect">
            <a:avLst/>
          </a:prstGeom>
          <a:noFill/>
          <a:ln/>
        </p:spPr>
        <p:txBody>
          <a:bodyPr wrap="square" lIns="0" tIns="0" rIns="0" bIns="0" rtlCol="0" anchor="ctr"/>
          <a:lstStyle/>
          <a:p>
            <a:pPr indent="0" marL="0">
              <a:lnSpc>
                <a:spcPct val="125000"/>
              </a:lnSpc>
              <a:buNone/>
            </a:pPr>
            <a:r>
              <a:rPr lang="en-US" sz="1150" dirty="0">
                <a:solidFill>
                  <a:srgbClr val="5B6560"/>
                </a:solidFill>
                <a:latin typeface="Lato" pitchFamily="34" charset="0"/>
                <a:ea typeface="Lato" pitchFamily="34" charset="-122"/>
                <a:cs typeface="Lato" pitchFamily="34" charset="-120"/>
              </a:rPr>
              <a:t>Collect user preferences, interests, interactions and item information.</a:t>
            </a:r>
            <a:endParaRPr lang="en-US" sz="1150" dirty="0"/>
          </a:p>
        </p:txBody>
      </p:sp>
      <p:sp>
        <p:nvSpPr>
          <p:cNvPr id="12" name="Shape 10"/>
          <p:cNvSpPr/>
          <p:nvPr/>
        </p:nvSpPr>
        <p:spPr>
          <a:xfrm>
            <a:off x="4361688" y="2103120"/>
            <a:ext cx="502920" cy="502920"/>
          </a:xfrm>
          <a:prstGeom prst="rect">
            <a:avLst/>
          </a:prstGeom>
          <a:solidFill>
            <a:srgbClr val="FAF7F0"/>
          </a:solidFill>
          <a:ln w="19050">
            <a:solidFill>
              <a:srgbClr val="C6552B"/>
            </a:solidFill>
            <a:prstDash val="solid"/>
          </a:ln>
        </p:spPr>
      </p:sp>
      <p:sp>
        <p:nvSpPr>
          <p:cNvPr id="13" name="Text 11"/>
          <p:cNvSpPr txBox="1"/>
          <p:nvPr/>
        </p:nvSpPr>
        <p:spPr>
          <a:xfrm>
            <a:off x="4361688" y="2103120"/>
            <a:ext cx="502920" cy="502920"/>
          </a:xfrm>
          <a:prstGeom prst="rect">
            <a:avLst/>
          </a:prstGeom>
          <a:noFill/>
          <a:ln/>
        </p:spPr>
        <p:txBody>
          <a:bodyPr wrap="square" lIns="0" tIns="0" rIns="0" bIns="0" rtlCol="0" anchor="ctr"/>
          <a:lstStyle/>
          <a:p>
            <a:pPr algn="ctr" indent="0" marL="0">
              <a:buNone/>
            </a:pPr>
            <a:r>
              <a:rPr lang="en-US" sz="1500" i="1" dirty="0">
                <a:solidFill>
                  <a:srgbClr val="C6552B"/>
                </a:solidFill>
                <a:latin typeface="Playfair Display" pitchFamily="34" charset="0"/>
                <a:ea typeface="Playfair Display" pitchFamily="34" charset="-122"/>
                <a:cs typeface="Playfair Display" pitchFamily="34" charset="-120"/>
              </a:rPr>
              <a:t>02</a:t>
            </a:r>
            <a:endParaRPr lang="en-US" sz="1500" dirty="0"/>
          </a:p>
        </p:txBody>
      </p:sp>
      <p:sp>
        <p:nvSpPr>
          <p:cNvPr id="14" name="Text 12"/>
          <p:cNvSpPr txBox="1"/>
          <p:nvPr/>
        </p:nvSpPr>
        <p:spPr>
          <a:xfrm>
            <a:off x="5047488" y="2039112"/>
            <a:ext cx="2834640" cy="594360"/>
          </a:xfrm>
          <a:prstGeom prst="rect">
            <a:avLst/>
          </a:prstGeom>
          <a:noFill/>
          <a:ln/>
        </p:spPr>
        <p:txBody>
          <a:bodyPr wrap="square" lIns="0" tIns="0" rIns="0" bIns="0" rtlCol="0" anchor="ctr"/>
          <a:lstStyle/>
          <a:p>
            <a:pPr indent="0" marL="0">
              <a:buNone/>
            </a:pPr>
            <a:r>
              <a:rPr lang="en-US" sz="1600" dirty="0">
                <a:solidFill>
                  <a:srgbClr val="0E3B36"/>
                </a:solidFill>
                <a:latin typeface="Playfair Display" pitchFamily="34" charset="0"/>
                <a:ea typeface="Playfair Display" pitchFamily="34" charset="-122"/>
                <a:cs typeface="Playfair Display" pitchFamily="34" charset="-120"/>
              </a:rPr>
              <a:t>Data Organization</a:t>
            </a:r>
            <a:endParaRPr lang="en-US" sz="1600" dirty="0"/>
          </a:p>
        </p:txBody>
      </p:sp>
      <p:sp>
        <p:nvSpPr>
          <p:cNvPr id="15" name="Text 13"/>
          <p:cNvSpPr txBox="1"/>
          <p:nvPr/>
        </p:nvSpPr>
        <p:spPr>
          <a:xfrm>
            <a:off x="4361688" y="2743200"/>
            <a:ext cx="3520440" cy="777240"/>
          </a:xfrm>
          <a:prstGeom prst="rect">
            <a:avLst/>
          </a:prstGeom>
          <a:noFill/>
          <a:ln/>
        </p:spPr>
        <p:txBody>
          <a:bodyPr wrap="square" lIns="0" tIns="0" rIns="0" bIns="0" rtlCol="0" anchor="ctr"/>
          <a:lstStyle/>
          <a:p>
            <a:pPr indent="0" marL="0">
              <a:lnSpc>
                <a:spcPct val="125000"/>
              </a:lnSpc>
              <a:buNone/>
            </a:pPr>
            <a:r>
              <a:rPr lang="en-US" sz="1150" dirty="0">
                <a:solidFill>
                  <a:srgbClr val="5B6560"/>
                </a:solidFill>
                <a:latin typeface="Lato" pitchFamily="34" charset="0"/>
                <a:ea typeface="Lato" pitchFamily="34" charset="-122"/>
                <a:cs typeface="Lato" pitchFamily="34" charset="-120"/>
              </a:rPr>
              <a:t>Store information using arrays, linked lists, hash tables, trees and graphs.</a:t>
            </a:r>
            <a:endParaRPr lang="en-US" sz="1150" dirty="0"/>
          </a:p>
        </p:txBody>
      </p:sp>
      <p:sp>
        <p:nvSpPr>
          <p:cNvPr id="16" name="Shape 14"/>
          <p:cNvSpPr/>
          <p:nvPr/>
        </p:nvSpPr>
        <p:spPr>
          <a:xfrm>
            <a:off x="8174736" y="2103120"/>
            <a:ext cx="502920" cy="502920"/>
          </a:xfrm>
          <a:prstGeom prst="rect">
            <a:avLst/>
          </a:prstGeom>
          <a:solidFill>
            <a:srgbClr val="FAF7F0"/>
          </a:solidFill>
          <a:ln w="19050">
            <a:solidFill>
              <a:srgbClr val="C6552B"/>
            </a:solidFill>
            <a:prstDash val="solid"/>
          </a:ln>
        </p:spPr>
      </p:sp>
      <p:sp>
        <p:nvSpPr>
          <p:cNvPr id="17" name="Text 15"/>
          <p:cNvSpPr txBox="1"/>
          <p:nvPr/>
        </p:nvSpPr>
        <p:spPr>
          <a:xfrm>
            <a:off x="8174736" y="2103120"/>
            <a:ext cx="502920" cy="502920"/>
          </a:xfrm>
          <a:prstGeom prst="rect">
            <a:avLst/>
          </a:prstGeom>
          <a:noFill/>
          <a:ln/>
        </p:spPr>
        <p:txBody>
          <a:bodyPr wrap="square" lIns="0" tIns="0" rIns="0" bIns="0" rtlCol="0" anchor="ctr"/>
          <a:lstStyle/>
          <a:p>
            <a:pPr algn="ctr" indent="0" marL="0">
              <a:buNone/>
            </a:pPr>
            <a:r>
              <a:rPr lang="en-US" sz="1500" i="1" dirty="0">
                <a:solidFill>
                  <a:srgbClr val="C6552B"/>
                </a:solidFill>
                <a:latin typeface="Playfair Display" pitchFamily="34" charset="0"/>
                <a:ea typeface="Playfair Display" pitchFamily="34" charset="-122"/>
                <a:cs typeface="Playfair Display" pitchFamily="34" charset="-120"/>
              </a:rPr>
              <a:t>03</a:t>
            </a:r>
            <a:endParaRPr lang="en-US" sz="1500" dirty="0"/>
          </a:p>
        </p:txBody>
      </p:sp>
      <p:sp>
        <p:nvSpPr>
          <p:cNvPr id="18" name="Text 16"/>
          <p:cNvSpPr txBox="1"/>
          <p:nvPr/>
        </p:nvSpPr>
        <p:spPr>
          <a:xfrm>
            <a:off x="8860536" y="2039112"/>
            <a:ext cx="2834640" cy="594360"/>
          </a:xfrm>
          <a:prstGeom prst="rect">
            <a:avLst/>
          </a:prstGeom>
          <a:noFill/>
          <a:ln/>
        </p:spPr>
        <p:txBody>
          <a:bodyPr wrap="square" lIns="0" tIns="0" rIns="0" bIns="0" rtlCol="0" anchor="ctr"/>
          <a:lstStyle/>
          <a:p>
            <a:pPr indent="0" marL="0">
              <a:buNone/>
            </a:pPr>
            <a:r>
              <a:rPr lang="en-US" sz="1600" dirty="0">
                <a:solidFill>
                  <a:srgbClr val="0E3B36"/>
                </a:solidFill>
                <a:latin typeface="Playfair Display" pitchFamily="34" charset="0"/>
                <a:ea typeface="Playfair Display" pitchFamily="34" charset="-122"/>
                <a:cs typeface="Playfair Display" pitchFamily="34" charset="-120"/>
              </a:rPr>
              <a:t>Similarity Analysis</a:t>
            </a:r>
            <a:endParaRPr lang="en-US" sz="1600" dirty="0"/>
          </a:p>
        </p:txBody>
      </p:sp>
      <p:sp>
        <p:nvSpPr>
          <p:cNvPr id="19" name="Text 17"/>
          <p:cNvSpPr txBox="1"/>
          <p:nvPr/>
        </p:nvSpPr>
        <p:spPr>
          <a:xfrm>
            <a:off x="8174736" y="2743200"/>
            <a:ext cx="3520440" cy="777240"/>
          </a:xfrm>
          <a:prstGeom prst="rect">
            <a:avLst/>
          </a:prstGeom>
          <a:noFill/>
          <a:ln/>
        </p:spPr>
        <p:txBody>
          <a:bodyPr wrap="square" lIns="0" tIns="0" rIns="0" bIns="0" rtlCol="0" anchor="ctr"/>
          <a:lstStyle/>
          <a:p>
            <a:pPr indent="0" marL="0">
              <a:lnSpc>
                <a:spcPct val="125000"/>
              </a:lnSpc>
              <a:buNone/>
            </a:pPr>
            <a:r>
              <a:rPr lang="en-US" sz="1150" dirty="0">
                <a:solidFill>
                  <a:srgbClr val="5B6560"/>
                </a:solidFill>
                <a:latin typeface="Lato" pitchFamily="34" charset="0"/>
                <a:ea typeface="Lato" pitchFamily="34" charset="-122"/>
                <a:cs typeface="Lato" pitchFamily="34" charset="-120"/>
              </a:rPr>
              <a:t>Analyze user-item relationships and identify common characteristics.</a:t>
            </a:r>
            <a:endParaRPr lang="en-US" sz="1150" dirty="0"/>
          </a:p>
        </p:txBody>
      </p:sp>
      <p:sp>
        <p:nvSpPr>
          <p:cNvPr id="20" name="Shape 18"/>
          <p:cNvSpPr/>
          <p:nvPr/>
        </p:nvSpPr>
        <p:spPr>
          <a:xfrm>
            <a:off x="548640" y="4389120"/>
            <a:ext cx="502920" cy="502920"/>
          </a:xfrm>
          <a:prstGeom prst="rect">
            <a:avLst/>
          </a:prstGeom>
          <a:solidFill>
            <a:srgbClr val="FAF7F0"/>
          </a:solidFill>
          <a:ln w="19050">
            <a:solidFill>
              <a:srgbClr val="C6552B"/>
            </a:solidFill>
            <a:prstDash val="solid"/>
          </a:ln>
        </p:spPr>
      </p:sp>
      <p:sp>
        <p:nvSpPr>
          <p:cNvPr id="21" name="Text 19"/>
          <p:cNvSpPr txBox="1"/>
          <p:nvPr/>
        </p:nvSpPr>
        <p:spPr>
          <a:xfrm>
            <a:off x="548640" y="4389120"/>
            <a:ext cx="502920" cy="502920"/>
          </a:xfrm>
          <a:prstGeom prst="rect">
            <a:avLst/>
          </a:prstGeom>
          <a:noFill/>
          <a:ln/>
        </p:spPr>
        <p:txBody>
          <a:bodyPr wrap="square" lIns="0" tIns="0" rIns="0" bIns="0" rtlCol="0" anchor="ctr"/>
          <a:lstStyle/>
          <a:p>
            <a:pPr algn="ctr" indent="0" marL="0">
              <a:buNone/>
            </a:pPr>
            <a:r>
              <a:rPr lang="en-US" sz="1500" i="1" dirty="0">
                <a:solidFill>
                  <a:srgbClr val="C6552B"/>
                </a:solidFill>
                <a:latin typeface="Playfair Display" pitchFamily="34" charset="0"/>
                <a:ea typeface="Playfair Display" pitchFamily="34" charset="-122"/>
                <a:cs typeface="Playfair Display" pitchFamily="34" charset="-120"/>
              </a:rPr>
              <a:t>04</a:t>
            </a:r>
            <a:endParaRPr lang="en-US" sz="1500" dirty="0"/>
          </a:p>
        </p:txBody>
      </p:sp>
      <p:sp>
        <p:nvSpPr>
          <p:cNvPr id="22" name="Text 20"/>
          <p:cNvSpPr txBox="1"/>
          <p:nvPr/>
        </p:nvSpPr>
        <p:spPr>
          <a:xfrm>
            <a:off x="1234440" y="4325112"/>
            <a:ext cx="2834640" cy="594360"/>
          </a:xfrm>
          <a:prstGeom prst="rect">
            <a:avLst/>
          </a:prstGeom>
          <a:noFill/>
          <a:ln/>
        </p:spPr>
        <p:txBody>
          <a:bodyPr wrap="square" lIns="0" tIns="0" rIns="0" bIns="0" rtlCol="0" anchor="ctr"/>
          <a:lstStyle/>
          <a:p>
            <a:pPr indent="0" marL="0">
              <a:buNone/>
            </a:pPr>
            <a:r>
              <a:rPr lang="en-US" sz="1600" dirty="0">
                <a:solidFill>
                  <a:srgbClr val="0E3B36"/>
                </a:solidFill>
                <a:latin typeface="Playfair Display" pitchFamily="34" charset="0"/>
                <a:ea typeface="Playfair Display" pitchFamily="34" charset="-122"/>
                <a:cs typeface="Playfair Display" pitchFamily="34" charset="-120"/>
              </a:rPr>
              <a:t>Recommendation Generation</a:t>
            </a:r>
            <a:endParaRPr lang="en-US" sz="1600" dirty="0"/>
          </a:p>
        </p:txBody>
      </p:sp>
      <p:sp>
        <p:nvSpPr>
          <p:cNvPr id="23" name="Text 21"/>
          <p:cNvSpPr txBox="1"/>
          <p:nvPr/>
        </p:nvSpPr>
        <p:spPr>
          <a:xfrm>
            <a:off x="548640" y="5029200"/>
            <a:ext cx="3520440" cy="777240"/>
          </a:xfrm>
          <a:prstGeom prst="rect">
            <a:avLst/>
          </a:prstGeom>
          <a:noFill/>
          <a:ln/>
        </p:spPr>
        <p:txBody>
          <a:bodyPr wrap="square" lIns="0" tIns="0" rIns="0" bIns="0" rtlCol="0" anchor="ctr"/>
          <a:lstStyle/>
          <a:p>
            <a:pPr indent="0" marL="0">
              <a:lnSpc>
                <a:spcPct val="125000"/>
              </a:lnSpc>
              <a:buNone/>
            </a:pPr>
            <a:r>
              <a:rPr lang="en-US" sz="1150" dirty="0">
                <a:solidFill>
                  <a:srgbClr val="5B6560"/>
                </a:solidFill>
                <a:latin typeface="Lato" pitchFamily="34" charset="0"/>
                <a:ea typeface="Lato" pitchFamily="34" charset="-122"/>
                <a:cs typeface="Lato" pitchFamily="34" charset="-120"/>
              </a:rPr>
              <a:t>Generate potential recommendations based on relevance and similarity.</a:t>
            </a:r>
            <a:endParaRPr lang="en-US" sz="1150" dirty="0"/>
          </a:p>
        </p:txBody>
      </p:sp>
      <p:sp>
        <p:nvSpPr>
          <p:cNvPr id="24" name="Shape 22"/>
          <p:cNvSpPr/>
          <p:nvPr/>
        </p:nvSpPr>
        <p:spPr>
          <a:xfrm>
            <a:off x="4361688" y="4389120"/>
            <a:ext cx="502920" cy="502920"/>
          </a:xfrm>
          <a:prstGeom prst="rect">
            <a:avLst/>
          </a:prstGeom>
          <a:solidFill>
            <a:srgbClr val="FAF7F0"/>
          </a:solidFill>
          <a:ln w="19050">
            <a:solidFill>
              <a:srgbClr val="C6552B"/>
            </a:solidFill>
            <a:prstDash val="solid"/>
          </a:ln>
        </p:spPr>
      </p:sp>
      <p:sp>
        <p:nvSpPr>
          <p:cNvPr id="25" name="Text 23"/>
          <p:cNvSpPr txBox="1"/>
          <p:nvPr/>
        </p:nvSpPr>
        <p:spPr>
          <a:xfrm>
            <a:off x="4361688" y="4389120"/>
            <a:ext cx="502920" cy="502920"/>
          </a:xfrm>
          <a:prstGeom prst="rect">
            <a:avLst/>
          </a:prstGeom>
          <a:noFill/>
          <a:ln/>
        </p:spPr>
        <p:txBody>
          <a:bodyPr wrap="square" lIns="0" tIns="0" rIns="0" bIns="0" rtlCol="0" anchor="ctr"/>
          <a:lstStyle/>
          <a:p>
            <a:pPr algn="ctr" indent="0" marL="0">
              <a:buNone/>
            </a:pPr>
            <a:r>
              <a:rPr lang="en-US" sz="1500" i="1" dirty="0">
                <a:solidFill>
                  <a:srgbClr val="C6552B"/>
                </a:solidFill>
                <a:latin typeface="Playfair Display" pitchFamily="34" charset="0"/>
                <a:ea typeface="Playfair Display" pitchFamily="34" charset="-122"/>
                <a:cs typeface="Playfair Display" pitchFamily="34" charset="-120"/>
              </a:rPr>
              <a:t>05</a:t>
            </a:r>
            <a:endParaRPr lang="en-US" sz="1500" dirty="0"/>
          </a:p>
        </p:txBody>
      </p:sp>
      <p:sp>
        <p:nvSpPr>
          <p:cNvPr id="26" name="Text 24"/>
          <p:cNvSpPr txBox="1"/>
          <p:nvPr/>
        </p:nvSpPr>
        <p:spPr>
          <a:xfrm>
            <a:off x="5047488" y="4325112"/>
            <a:ext cx="2834640" cy="594360"/>
          </a:xfrm>
          <a:prstGeom prst="rect">
            <a:avLst/>
          </a:prstGeom>
          <a:noFill/>
          <a:ln/>
        </p:spPr>
        <p:txBody>
          <a:bodyPr wrap="square" lIns="0" tIns="0" rIns="0" bIns="0" rtlCol="0" anchor="ctr"/>
          <a:lstStyle/>
          <a:p>
            <a:pPr indent="0" marL="0">
              <a:buNone/>
            </a:pPr>
            <a:r>
              <a:rPr lang="en-US" sz="1600" dirty="0">
                <a:solidFill>
                  <a:srgbClr val="0E3B36"/>
                </a:solidFill>
                <a:latin typeface="Playfair Display" pitchFamily="34" charset="0"/>
                <a:ea typeface="Playfair Display" pitchFamily="34" charset="-122"/>
                <a:cs typeface="Playfair Display" pitchFamily="34" charset="-120"/>
              </a:rPr>
              <a:t>Ranking</a:t>
            </a:r>
            <a:endParaRPr lang="en-US" sz="1600" dirty="0"/>
          </a:p>
        </p:txBody>
      </p:sp>
      <p:sp>
        <p:nvSpPr>
          <p:cNvPr id="27" name="Text 25"/>
          <p:cNvSpPr txBox="1"/>
          <p:nvPr/>
        </p:nvSpPr>
        <p:spPr>
          <a:xfrm>
            <a:off x="4361688" y="5029200"/>
            <a:ext cx="3520440" cy="777240"/>
          </a:xfrm>
          <a:prstGeom prst="rect">
            <a:avLst/>
          </a:prstGeom>
          <a:noFill/>
          <a:ln/>
        </p:spPr>
        <p:txBody>
          <a:bodyPr wrap="square" lIns="0" tIns="0" rIns="0" bIns="0" rtlCol="0" anchor="ctr"/>
          <a:lstStyle/>
          <a:p>
            <a:pPr indent="0" marL="0">
              <a:lnSpc>
                <a:spcPct val="125000"/>
              </a:lnSpc>
              <a:buNone/>
            </a:pPr>
            <a:r>
              <a:rPr lang="en-US" sz="1150" dirty="0">
                <a:solidFill>
                  <a:srgbClr val="5B6560"/>
                </a:solidFill>
                <a:latin typeface="Lato" pitchFamily="34" charset="0"/>
                <a:ea typeface="Lato" pitchFamily="34" charset="-122"/>
                <a:cs typeface="Lato" pitchFamily="34" charset="-120"/>
              </a:rPr>
              <a:t>Use searching, sorting and priority queues / heaps to rank recommendations.</a:t>
            </a:r>
            <a:endParaRPr lang="en-US" sz="1150" dirty="0"/>
          </a:p>
        </p:txBody>
      </p:sp>
      <p:sp>
        <p:nvSpPr>
          <p:cNvPr id="28" name="Shape 26"/>
          <p:cNvSpPr/>
          <p:nvPr/>
        </p:nvSpPr>
        <p:spPr>
          <a:xfrm>
            <a:off x="8174736" y="4389120"/>
            <a:ext cx="502920" cy="502920"/>
          </a:xfrm>
          <a:prstGeom prst="rect">
            <a:avLst/>
          </a:prstGeom>
          <a:solidFill>
            <a:srgbClr val="FAF7F0"/>
          </a:solidFill>
          <a:ln w="19050">
            <a:solidFill>
              <a:srgbClr val="C6552B"/>
            </a:solidFill>
            <a:prstDash val="solid"/>
          </a:ln>
        </p:spPr>
      </p:sp>
      <p:sp>
        <p:nvSpPr>
          <p:cNvPr id="29" name="Text 27"/>
          <p:cNvSpPr txBox="1"/>
          <p:nvPr/>
        </p:nvSpPr>
        <p:spPr>
          <a:xfrm>
            <a:off x="8174736" y="4389120"/>
            <a:ext cx="502920" cy="502920"/>
          </a:xfrm>
          <a:prstGeom prst="rect">
            <a:avLst/>
          </a:prstGeom>
          <a:noFill/>
          <a:ln/>
        </p:spPr>
        <p:txBody>
          <a:bodyPr wrap="square" lIns="0" tIns="0" rIns="0" bIns="0" rtlCol="0" anchor="ctr"/>
          <a:lstStyle/>
          <a:p>
            <a:pPr algn="ctr" indent="0" marL="0">
              <a:buNone/>
            </a:pPr>
            <a:r>
              <a:rPr lang="en-US" sz="1500" i="1" dirty="0">
                <a:solidFill>
                  <a:srgbClr val="C6552B"/>
                </a:solidFill>
                <a:latin typeface="Playfair Display" pitchFamily="34" charset="0"/>
                <a:ea typeface="Playfair Display" pitchFamily="34" charset="-122"/>
                <a:cs typeface="Playfair Display" pitchFamily="34" charset="-120"/>
              </a:rPr>
              <a:t>06</a:t>
            </a:r>
            <a:endParaRPr lang="en-US" sz="1500" dirty="0"/>
          </a:p>
        </p:txBody>
      </p:sp>
      <p:sp>
        <p:nvSpPr>
          <p:cNvPr id="30" name="Text 28"/>
          <p:cNvSpPr txBox="1"/>
          <p:nvPr/>
        </p:nvSpPr>
        <p:spPr>
          <a:xfrm>
            <a:off x="8860536" y="4325112"/>
            <a:ext cx="2834640" cy="594360"/>
          </a:xfrm>
          <a:prstGeom prst="rect">
            <a:avLst/>
          </a:prstGeom>
          <a:noFill/>
          <a:ln/>
        </p:spPr>
        <p:txBody>
          <a:bodyPr wrap="square" lIns="0" tIns="0" rIns="0" bIns="0" rtlCol="0" anchor="ctr"/>
          <a:lstStyle/>
          <a:p>
            <a:pPr indent="0" marL="0">
              <a:buNone/>
            </a:pPr>
            <a:r>
              <a:rPr lang="en-US" sz="1600" dirty="0">
                <a:solidFill>
                  <a:srgbClr val="0E3B36"/>
                </a:solidFill>
                <a:latin typeface="Playfair Display" pitchFamily="34" charset="0"/>
                <a:ea typeface="Playfair Display" pitchFamily="34" charset="-122"/>
                <a:cs typeface="Playfair Display" pitchFamily="34" charset="-120"/>
              </a:rPr>
              <a:t>Final Recommendation</a:t>
            </a:r>
            <a:endParaRPr lang="en-US" sz="1600" dirty="0"/>
          </a:p>
        </p:txBody>
      </p:sp>
      <p:sp>
        <p:nvSpPr>
          <p:cNvPr id="31" name="Text 29"/>
          <p:cNvSpPr txBox="1"/>
          <p:nvPr/>
        </p:nvSpPr>
        <p:spPr>
          <a:xfrm>
            <a:off x="8174736" y="5029200"/>
            <a:ext cx="3520440" cy="777240"/>
          </a:xfrm>
          <a:prstGeom prst="rect">
            <a:avLst/>
          </a:prstGeom>
          <a:noFill/>
          <a:ln/>
        </p:spPr>
        <p:txBody>
          <a:bodyPr wrap="square" lIns="0" tIns="0" rIns="0" bIns="0" rtlCol="0" anchor="ctr"/>
          <a:lstStyle/>
          <a:p>
            <a:pPr indent="0" marL="0">
              <a:lnSpc>
                <a:spcPct val="125000"/>
              </a:lnSpc>
              <a:buNone/>
            </a:pPr>
            <a:r>
              <a:rPr lang="en-US" sz="1150" dirty="0">
                <a:solidFill>
                  <a:srgbClr val="5B6560"/>
                </a:solidFill>
                <a:latin typeface="Lato" pitchFamily="34" charset="0"/>
                <a:ea typeface="Lato" pitchFamily="34" charset="-122"/>
                <a:cs typeface="Lato" pitchFamily="34" charset="-120"/>
              </a:rPr>
              <a:t>Display the most relevant items, focused on efficiency and response time.</a:t>
            </a:r>
            <a:endParaRPr lang="en-US" sz="1150" dirty="0"/>
          </a:p>
        </p:txBody>
      </p:sp>
      <p:sp>
        <p:nvSpPr>
          <p:cNvPr id="32" name="Text 30"/>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spc="150" kern="0" dirty="0">
                <a:solidFill>
                  <a:srgbClr val="5B6560"/>
                </a:solidFill>
                <a:latin typeface="Lato" pitchFamily="34" charset="0"/>
                <a:ea typeface="Lato" pitchFamily="34" charset="-122"/>
                <a:cs typeface="Lato" pitchFamily="34" charset="-120"/>
              </a:rPr>
              <a:t>RECOMMENDATION ENGINE</a:t>
            </a:r>
            <a:endParaRPr lang="en-US" sz="900" dirty="0"/>
          </a:p>
        </p:txBody>
      </p:sp>
      <p:sp>
        <p:nvSpPr>
          <p:cNvPr id="33" name="Text 31"/>
          <p:cNvSpPr txBox="1"/>
          <p:nvPr/>
        </p:nvSpPr>
        <p:spPr>
          <a:xfrm>
            <a:off x="11183112" y="6473952"/>
            <a:ext cx="548640" cy="274320"/>
          </a:xfrm>
          <a:prstGeom prst="rect">
            <a:avLst/>
          </a:prstGeom>
          <a:noFill/>
          <a:ln/>
        </p:spPr>
        <p:txBody>
          <a:bodyPr wrap="square" lIns="0" tIns="0" rIns="0" bIns="0" rtlCol="0" anchor="ctr"/>
          <a:lstStyle/>
          <a:p>
            <a:pPr algn="r" indent="0" marL="0">
              <a:buNone/>
            </a:pPr>
            <a:r>
              <a:rPr lang="en-US" sz="900" spc="100" kern="0" dirty="0">
                <a:solidFill>
                  <a:srgbClr val="5B6560"/>
                </a:solidFill>
                <a:latin typeface="Lato" pitchFamily="34" charset="0"/>
                <a:ea typeface="Lato" pitchFamily="34" charset="-122"/>
                <a:cs typeface="Lato" pitchFamily="34" charset="-120"/>
              </a:rPr>
              <a:t>06</a:t>
            </a:r>
            <a:endParaRPr lang="en-US" sz="900" dirty="0"/>
          </a:p>
        </p:txBody>
      </p:sp>
      <p:sp>
        <p:nvSpPr>
          <p:cNvPr id="34" name="Shape 32"/>
          <p:cNvSpPr/>
          <p:nvPr/>
        </p:nvSpPr>
        <p:spPr>
          <a:xfrm>
            <a:off x="548640" y="6355080"/>
            <a:ext cx="11091672" cy="0"/>
          </a:xfrm>
          <a:prstGeom prst="line">
            <a:avLst/>
          </a:prstGeom>
          <a:noFill/>
          <a:ln w="9525">
            <a:solidFill>
              <a:srgbClr val="D9D2C4"/>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3B36"/>
        </a:solidFill>
      </p:bgPr>
    </p:bg>
    <p:spTree>
      <p:nvGrpSpPr>
        <p:cNvPr id="1" name=""/>
        <p:cNvGrpSpPr/>
        <p:nvPr/>
      </p:nvGrpSpPr>
      <p:grpSpPr>
        <a:xfrm>
          <a:off x="0" y="0"/>
          <a:ext cx="0" cy="0"/>
          <a:chOff x="0" y="0"/>
          <a:chExt cx="0" cy="0"/>
        </a:xfrm>
      </p:grpSpPr>
      <p:sp>
        <p:nvSpPr>
          <p:cNvPr id="2" name="Shape 0"/>
          <p:cNvSpPr/>
          <p:nvPr/>
        </p:nvSpPr>
        <p:spPr>
          <a:xfrm>
            <a:off x="548640" y="548640"/>
            <a:ext cx="457200" cy="41148"/>
          </a:xfrm>
          <a:prstGeom prst="rect">
            <a:avLst/>
          </a:prstGeom>
          <a:solidFill>
            <a:srgbClr val="C6552B"/>
          </a:solidFill>
          <a:ln/>
        </p:spPr>
      </p:sp>
      <p:sp>
        <p:nvSpPr>
          <p:cNvPr id="3" name="Shape 1"/>
          <p:cNvSpPr/>
          <p:nvPr/>
        </p:nvSpPr>
        <p:spPr>
          <a:xfrm>
            <a:off x="548640" y="548640"/>
            <a:ext cx="41148" cy="457200"/>
          </a:xfrm>
          <a:prstGeom prst="rect">
            <a:avLst/>
          </a:prstGeom>
          <a:solidFill>
            <a:srgbClr val="C6552B"/>
          </a:solidFill>
          <a:ln/>
        </p:spPr>
      </p:sp>
      <p:sp>
        <p:nvSpPr>
          <p:cNvPr id="4" name="Shape 2"/>
          <p:cNvSpPr/>
          <p:nvPr/>
        </p:nvSpPr>
        <p:spPr>
          <a:xfrm>
            <a:off x="11183112" y="5852160"/>
            <a:ext cx="457200" cy="41148"/>
          </a:xfrm>
          <a:prstGeom prst="rect">
            <a:avLst/>
          </a:prstGeom>
          <a:solidFill>
            <a:srgbClr val="C6552B"/>
          </a:solidFill>
          <a:ln/>
        </p:spPr>
      </p:sp>
      <p:sp>
        <p:nvSpPr>
          <p:cNvPr id="5" name="Shape 3"/>
          <p:cNvSpPr/>
          <p:nvPr/>
        </p:nvSpPr>
        <p:spPr>
          <a:xfrm>
            <a:off x="11594592" y="5806440"/>
            <a:ext cx="41148" cy="457200"/>
          </a:xfrm>
          <a:prstGeom prst="rect">
            <a:avLst/>
          </a:prstGeom>
          <a:solidFill>
            <a:srgbClr val="C6552B"/>
          </a:solidFill>
          <a:ln/>
        </p:spPr>
      </p:sp>
      <p:sp>
        <p:nvSpPr>
          <p:cNvPr id="6" name="Text 4"/>
          <p:cNvSpPr txBox="1"/>
          <p:nvPr/>
        </p:nvSpPr>
        <p:spPr>
          <a:xfrm>
            <a:off x="0" y="2697480"/>
            <a:ext cx="12188952" cy="1005840"/>
          </a:xfrm>
          <a:prstGeom prst="rect">
            <a:avLst/>
          </a:prstGeom>
          <a:noFill/>
          <a:ln/>
        </p:spPr>
        <p:txBody>
          <a:bodyPr wrap="square" lIns="0" tIns="0" rIns="0" bIns="0" rtlCol="0" anchor="ctr"/>
          <a:lstStyle/>
          <a:p>
            <a:pPr algn="ctr" indent="0" marL="0">
              <a:buNone/>
            </a:pPr>
            <a:r>
              <a:rPr lang="en-US" sz="5200" dirty="0">
                <a:solidFill>
                  <a:srgbClr val="FAF7F0"/>
                </a:solidFill>
                <a:latin typeface="Playfair Display" pitchFamily="34" charset="0"/>
                <a:ea typeface="Playfair Display" pitchFamily="34" charset="-122"/>
                <a:cs typeface="Playfair Display" pitchFamily="34" charset="-120"/>
              </a:rPr>
              <a:t>Thank You</a:t>
            </a:r>
            <a:endParaRPr lang="en-US" sz="5200" dirty="0"/>
          </a:p>
        </p:txBody>
      </p:sp>
      <p:sp>
        <p:nvSpPr>
          <p:cNvPr id="7" name="Shape 5"/>
          <p:cNvSpPr/>
          <p:nvPr/>
        </p:nvSpPr>
        <p:spPr>
          <a:xfrm>
            <a:off x="5088636" y="3794760"/>
            <a:ext cx="2011680" cy="0"/>
          </a:xfrm>
          <a:prstGeom prst="line">
            <a:avLst/>
          </a:prstGeom>
          <a:noFill/>
          <a:ln w="25400">
            <a:solidFill>
              <a:srgbClr val="C6552B"/>
            </a:solidFill>
            <a:prstDash val="solid"/>
          </a:ln>
        </p:spPr>
      </p:sp>
      <p:sp>
        <p:nvSpPr>
          <p:cNvPr id="8" name="Text 6"/>
          <p:cNvSpPr txBox="1"/>
          <p:nvPr/>
        </p:nvSpPr>
        <p:spPr>
          <a:xfrm>
            <a:off x="0" y="3950208"/>
            <a:ext cx="12188952" cy="457200"/>
          </a:xfrm>
          <a:prstGeom prst="rect">
            <a:avLst/>
          </a:prstGeom>
          <a:noFill/>
          <a:ln/>
        </p:spPr>
        <p:txBody>
          <a:bodyPr wrap="square" lIns="0" tIns="0" rIns="0" bIns="0" rtlCol="0" anchor="ctr"/>
          <a:lstStyle/>
          <a:p>
            <a:pPr algn="ctr" indent="0" marL="0">
              <a:buNone/>
            </a:pPr>
            <a:r>
              <a:rPr lang="en-US" sz="1400" spc="100" kern="0" dirty="0">
                <a:solidFill>
                  <a:srgbClr val="CFE0DC"/>
                </a:solidFill>
                <a:latin typeface="Lato" pitchFamily="34" charset="0"/>
                <a:ea typeface="Lato" pitchFamily="34" charset="-122"/>
                <a:cs typeface="Lato" pitchFamily="34" charset="-120"/>
              </a:rPr>
              <a:t>M. Niharika   ·   2520090021   ·   Team 40</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2026-08-27T06:53:36Z</dcterms:created>
  <dcterms:modified xsi:type="dcterms:W3CDTF">2026-08-27T06:53:36Z</dcterms:modified>
</cp:coreProperties>
</file>